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37" r:id="rId1"/>
  </p:sldMasterIdLst>
  <p:notesMasterIdLst>
    <p:notesMasterId r:id="rId13"/>
  </p:notesMasterIdLst>
  <p:sldIdLst>
    <p:sldId id="269" r:id="rId2"/>
    <p:sldId id="257" r:id="rId3"/>
    <p:sldId id="258" r:id="rId4"/>
    <p:sldId id="259" r:id="rId5"/>
    <p:sldId id="260" r:id="rId6"/>
    <p:sldId id="261" r:id="rId7"/>
    <p:sldId id="262" r:id="rId8"/>
    <p:sldId id="263" r:id="rId9"/>
    <p:sldId id="264" r:id="rId10"/>
    <p:sldId id="270" r:id="rId11"/>
    <p:sldId id="266" r:id="rId12"/>
  </p:sldIdLst>
  <p:sldSz cx="12192000" cy="6858000"/>
  <p:notesSz cx="6858000" cy="12192000"/>
  <p:custShowLst>
    <p:custShow name="Custom Show 1" id="0">
      <p:sldLst>
        <p:sld r:id="rId2"/>
        <p:sld r:id="rId3"/>
        <p:sld r:id="rId4"/>
        <p:sld r:id="rId5"/>
        <p:sld r:id="rId6"/>
        <p:sld r:id="rId7"/>
        <p:sld r:id="rId8"/>
        <p:sld r:id="rId9"/>
        <p:sld r:id="rId10"/>
        <p:sld r:id="rId11"/>
        <p:sld r:id="rId1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96"/>
    <p:restoredTop sz="94610"/>
  </p:normalViewPr>
  <p:slideViewPr>
    <p:cSldViewPr snapToGrid="0" snapToObjects="1">
      <p:cViewPr>
        <p:scale>
          <a:sx n="117" d="100"/>
          <a:sy n="117" d="100"/>
        </p:scale>
        <p:origin x="168"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1395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5DDE5-A4B7-0E88-866C-ED61588A2D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A3BEDC-9DAD-A6A7-0F82-CB46A5EC75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C0D48A-FF4E-C534-0D3E-61CC45766BBE}"/>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5" name="Footer Placeholder 4">
            <a:extLst>
              <a:ext uri="{FF2B5EF4-FFF2-40B4-BE49-F238E27FC236}">
                <a16:creationId xmlns:a16="http://schemas.microsoft.com/office/drawing/2014/main" id="{15576B4B-0C42-CE0C-A1C9-BEBE379CC8C8}"/>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676A3D20-15AA-D8DE-76B4-1475D7C5A0C1}"/>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78178228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A9FE3-7AC5-94F4-0D1A-3721BDC3D7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783CAD-0D67-BAC1-BEB5-B89A431D3C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BCBFE0-0076-A273-3AC1-ED5811CE5E17}"/>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5" name="Footer Placeholder 4">
            <a:extLst>
              <a:ext uri="{FF2B5EF4-FFF2-40B4-BE49-F238E27FC236}">
                <a16:creationId xmlns:a16="http://schemas.microsoft.com/office/drawing/2014/main" id="{967DF994-2D40-6C89-AF6D-AA882A8E5816}"/>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C90451-6B5F-E14F-AC74-3E2075D93ABF}"/>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75947341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3E348-A800-51ED-ADB6-8BE427C2FA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E160A1-86CF-D055-53E9-AEA07FF0D2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5FEB2E-38CF-FE5C-1A16-6F1F29AF96C5}"/>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5" name="Footer Placeholder 4">
            <a:extLst>
              <a:ext uri="{FF2B5EF4-FFF2-40B4-BE49-F238E27FC236}">
                <a16:creationId xmlns:a16="http://schemas.microsoft.com/office/drawing/2014/main" id="{A09BF7BA-96D8-1856-6EAE-6365886598A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FBBCC73E-49F3-C62E-5D87-08B79541BD60}"/>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14739663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D1DD7-6950-BD86-65E4-2B5FF28857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225C01-1F54-0F93-058D-3BE3B9DDB5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12962B-9A26-746B-19DD-719C3C0295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E9DDA7-9FEC-D48E-0C5A-B9187DCE205C}"/>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6" name="Footer Placeholder 5">
            <a:extLst>
              <a:ext uri="{FF2B5EF4-FFF2-40B4-BE49-F238E27FC236}">
                <a16:creationId xmlns:a16="http://schemas.microsoft.com/office/drawing/2014/main" id="{48E91D65-67BC-4C46-61EA-DB1CA6309A3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0BCFC7B-6355-987E-5C1A-19A4A741C898}"/>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4056426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B536C-7EE1-8E58-2955-4FC5F1395B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77806C-46F0-13B4-99D0-057D368E49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E7C175-1706-7818-3108-3969A5DA4E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78E754-44AE-9656-9F24-1433DA1C06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406BA8-42F9-56CA-CA0A-D078D35F58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74E1F5-4A5F-23CE-2294-A1011D050E97}"/>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8" name="Footer Placeholder 7">
            <a:extLst>
              <a:ext uri="{FF2B5EF4-FFF2-40B4-BE49-F238E27FC236}">
                <a16:creationId xmlns:a16="http://schemas.microsoft.com/office/drawing/2014/main" id="{1F88C0C7-F4DC-6EEE-131F-56846ADCD46D}"/>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5B3AFEF2-54B3-740A-3C8F-9CEB50FD475B}"/>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7251198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6A4E3-642A-6613-3AA7-C123BF3040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74EA36-CEA4-CF5F-953D-ACD2269D0B94}"/>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4" name="Footer Placeholder 3">
            <a:extLst>
              <a:ext uri="{FF2B5EF4-FFF2-40B4-BE49-F238E27FC236}">
                <a16:creationId xmlns:a16="http://schemas.microsoft.com/office/drawing/2014/main" id="{E5B6C8FE-B3AC-9D78-1EA0-B8F918F1533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455743C9-E1CF-692B-6B82-98DD2FA8EF4B}"/>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70965285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1F7DFF-C8D1-98D8-F66C-346FBB50C2A8}"/>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3" name="Footer Placeholder 2">
            <a:extLst>
              <a:ext uri="{FF2B5EF4-FFF2-40B4-BE49-F238E27FC236}">
                <a16:creationId xmlns:a16="http://schemas.microsoft.com/office/drawing/2014/main" id="{750DF9BD-E81B-4AB9-9CE9-7A34A70E282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177AA0E4-2853-96A9-8F94-F01E29C9EB5C}"/>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15977883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58EE9-D20F-B139-B4CA-11D138B278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EE0790-4D2F-3060-567B-E5FD336668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5A76C6-7AF6-1C0E-5EC4-150A44F93B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164C70-C773-6498-185A-CC282CD0EA19}"/>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6" name="Footer Placeholder 5">
            <a:extLst>
              <a:ext uri="{FF2B5EF4-FFF2-40B4-BE49-F238E27FC236}">
                <a16:creationId xmlns:a16="http://schemas.microsoft.com/office/drawing/2014/main" id="{C2EE12D6-74D3-BF74-55E1-67454EC185D8}"/>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D7214193-F7F1-5E46-0C7D-5DD9E7A071C5}"/>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66915994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75486-84F8-47D6-4F5D-CB81496AFF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09AB00-EC9A-793B-241D-504550FB13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308FD0-018A-3648-EA30-752B4CD53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0DBE4F-3138-12E4-3A30-0A49B4D0A887}"/>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6" name="Footer Placeholder 5">
            <a:extLst>
              <a:ext uri="{FF2B5EF4-FFF2-40B4-BE49-F238E27FC236}">
                <a16:creationId xmlns:a16="http://schemas.microsoft.com/office/drawing/2014/main" id="{D9731C1F-005C-B905-3CA4-B9D52E54ACA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E7EA0FA3-8763-E07C-831E-552780836EF2}"/>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6835881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8BA4A-2B53-2A1B-17D4-A2E7E74674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1D506D-B750-8FCB-B08A-BFCCC2D8D0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B68106-0315-D229-8951-C4D03E005FEA}"/>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5" name="Footer Placeholder 4">
            <a:extLst>
              <a:ext uri="{FF2B5EF4-FFF2-40B4-BE49-F238E27FC236}">
                <a16:creationId xmlns:a16="http://schemas.microsoft.com/office/drawing/2014/main" id="{167F0864-F938-C341-394F-9FAE56923EF8}"/>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78FEED8F-ABF9-882E-B6F7-065A37BBCA15}"/>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7212753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FD4B91-2E98-755D-00FD-AF63A5EC48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4304EE-1F10-5035-007A-5D0BD3E89B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F1501E-E502-0E2C-C7A2-24D079368C2B}"/>
              </a:ext>
            </a:extLst>
          </p:cNvPr>
          <p:cNvSpPr>
            <a:spLocks noGrp="1"/>
          </p:cNvSpPr>
          <p:nvPr>
            <p:ph type="dt" sz="half" idx="10"/>
          </p:nvPr>
        </p:nvSpPr>
        <p:spPr/>
        <p:txBody>
          <a:bodyPr/>
          <a:lstStyle/>
          <a:p>
            <a:fld id="{7FA43F5B-065E-43CE-B3FD-98C48A6F94D7}" type="datetime1">
              <a:rPr lang="en-US" smtClean="0"/>
              <a:pPr/>
              <a:t>9/5/26</a:t>
            </a:fld>
            <a:endParaRPr lang="en-US"/>
          </a:p>
        </p:txBody>
      </p:sp>
      <p:sp>
        <p:nvSpPr>
          <p:cNvPr id="5" name="Footer Placeholder 4">
            <a:extLst>
              <a:ext uri="{FF2B5EF4-FFF2-40B4-BE49-F238E27FC236}">
                <a16:creationId xmlns:a16="http://schemas.microsoft.com/office/drawing/2014/main" id="{0FD8C433-8FF2-51DD-F053-7715414F3BD8}"/>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6870387B-9B21-FA04-9757-4DD55744FB92}"/>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65088732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6254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C2D194-56DC-3273-CBE8-463CA06C25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66328F-F87B-EFEB-896E-F60332C31E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1E3BD-D714-9800-7C86-37A8AF7976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A43F5B-065E-43CE-B3FD-98C48A6F94D7}" type="datetime1">
              <a:rPr lang="en-US" smtClean="0"/>
              <a:pPr/>
              <a:t>9/5/26</a:t>
            </a:fld>
            <a:endParaRPr lang="en-US"/>
          </a:p>
        </p:txBody>
      </p:sp>
      <p:sp>
        <p:nvSpPr>
          <p:cNvPr id="5" name="Footer Placeholder 4">
            <a:extLst>
              <a:ext uri="{FF2B5EF4-FFF2-40B4-BE49-F238E27FC236}">
                <a16:creationId xmlns:a16="http://schemas.microsoft.com/office/drawing/2014/main" id="{FAA3C898-9E8A-44DF-8531-875CCD3329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FBC387D9-1517-68C2-00CB-082F0DEC59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32226057"/>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slide" Target="slide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3">
            <a:extLst>
              <a:ext uri="{FF2B5EF4-FFF2-40B4-BE49-F238E27FC236}">
                <a16:creationId xmlns:a16="http://schemas.microsoft.com/office/drawing/2014/main" id="{157B045D-05DE-CBCB-E8A1-4313529F4A0A}"/>
              </a:ext>
            </a:extLst>
          </p:cNvPr>
          <p:cNvSpPr txBox="1"/>
          <p:nvPr/>
        </p:nvSpPr>
        <p:spPr>
          <a:xfrm>
            <a:off x="457200" y="1371600"/>
            <a:ext cx="8229600" cy="365760"/>
          </a:xfrm>
          <a:prstGeom prst="rect">
            <a:avLst/>
          </a:prstGeom>
          <a:noFill/>
          <a:ln/>
        </p:spPr>
        <p:txBody>
          <a:bodyPr wrap="square" lIns="0" tIns="0" rIns="0" bIns="0" rtlCol="0" anchor="ctr"/>
          <a:lstStyle/>
          <a:p>
            <a:pPr marL="0" indent="0">
              <a:buNone/>
            </a:pPr>
            <a:r>
              <a:rPr lang="en-US" sz="1400" b="1" kern="0" spc="300" dirty="0">
                <a:solidFill>
                  <a:schemeClr val="accent3"/>
                </a:solidFill>
                <a:latin typeface="Calibri" pitchFamily="34" charset="0"/>
                <a:ea typeface="Calibri" pitchFamily="34" charset="-122"/>
                <a:cs typeface="Calibri" pitchFamily="34" charset="-120"/>
              </a:rPr>
              <a:t>DATA ANALYTICS CAPSTONE</a:t>
            </a:r>
            <a:endParaRPr lang="en-US" sz="1400" dirty="0">
              <a:solidFill>
                <a:schemeClr val="accent3"/>
              </a:solidFill>
            </a:endParaRPr>
          </a:p>
        </p:txBody>
      </p:sp>
      <p:sp>
        <p:nvSpPr>
          <p:cNvPr id="9" name="Text 4">
            <a:extLst>
              <a:ext uri="{FF2B5EF4-FFF2-40B4-BE49-F238E27FC236}">
                <a16:creationId xmlns:a16="http://schemas.microsoft.com/office/drawing/2014/main" id="{F8B1EBF9-2E68-FA05-889A-524C79247061}"/>
              </a:ext>
            </a:extLst>
          </p:cNvPr>
          <p:cNvSpPr txBox="1"/>
          <p:nvPr/>
        </p:nvSpPr>
        <p:spPr>
          <a:xfrm>
            <a:off x="457200" y="1828800"/>
            <a:ext cx="9601200" cy="1463040"/>
          </a:xfrm>
          <a:prstGeom prst="rect">
            <a:avLst/>
          </a:prstGeom>
          <a:noFill/>
          <a:ln/>
        </p:spPr>
        <p:txBody>
          <a:bodyPr wrap="square" lIns="0" tIns="0" rIns="0" bIns="0" rtlCol="0" anchor="ctr"/>
          <a:lstStyle/>
          <a:p>
            <a:pPr marL="0" indent="0">
              <a:lnSpc>
                <a:spcPct val="105000"/>
              </a:lnSpc>
              <a:buNone/>
            </a:pPr>
            <a:r>
              <a:rPr lang="en-US" sz="4000" b="1" dirty="0">
                <a:solidFill>
                  <a:schemeClr val="tx2"/>
                </a:solidFill>
                <a:latin typeface="Cambria" pitchFamily="34" charset="0"/>
                <a:ea typeface="Cambria" pitchFamily="34" charset="-122"/>
                <a:cs typeface="Cambria" pitchFamily="34" charset="-120"/>
              </a:rPr>
              <a:t>Healthcare Infrastructure Gap Index (HIGI)</a:t>
            </a:r>
            <a:endParaRPr lang="en-US" sz="4000" b="1" dirty="0">
              <a:solidFill>
                <a:schemeClr val="tx2"/>
              </a:solidFill>
            </a:endParaRPr>
          </a:p>
        </p:txBody>
      </p:sp>
      <p:sp>
        <p:nvSpPr>
          <p:cNvPr id="10" name="Text 5">
            <a:extLst>
              <a:ext uri="{FF2B5EF4-FFF2-40B4-BE49-F238E27FC236}">
                <a16:creationId xmlns:a16="http://schemas.microsoft.com/office/drawing/2014/main" id="{201DA724-9DC6-CDC4-BE6E-838AA288CF5D}"/>
              </a:ext>
            </a:extLst>
          </p:cNvPr>
          <p:cNvSpPr txBox="1"/>
          <p:nvPr/>
        </p:nvSpPr>
        <p:spPr>
          <a:xfrm>
            <a:off x="457200" y="3246120"/>
            <a:ext cx="8778240" cy="822960"/>
          </a:xfrm>
          <a:prstGeom prst="rect">
            <a:avLst/>
          </a:prstGeom>
          <a:noFill/>
          <a:ln/>
        </p:spPr>
        <p:txBody>
          <a:bodyPr wrap="square" lIns="0" tIns="0" rIns="0" bIns="0" rtlCol="0" anchor="ctr"/>
          <a:lstStyle/>
          <a:p>
            <a:pPr marL="0" indent="0">
              <a:lnSpc>
                <a:spcPct val="115000"/>
              </a:lnSpc>
              <a:buNone/>
            </a:pPr>
            <a:r>
              <a:rPr lang="en-US" sz="1600" b="1" i="1" dirty="0">
                <a:solidFill>
                  <a:schemeClr val="tx2">
                    <a:lumMod val="50000"/>
                    <a:lumOff val="50000"/>
                  </a:schemeClr>
                </a:solidFill>
                <a:latin typeface="Calibri" pitchFamily="34" charset="0"/>
                <a:ea typeface="Calibri" pitchFamily="34" charset="-122"/>
                <a:cs typeface="Calibri" pitchFamily="34" charset="-120"/>
              </a:rPr>
              <a:t>An AI-Assisted Decision Support Framework for District-Level Healthcare Infrastructure Prioritization in India</a:t>
            </a:r>
            <a:endParaRPr lang="en-US" sz="1600" b="1" dirty="0">
              <a:solidFill>
                <a:schemeClr val="tx2">
                  <a:lumMod val="50000"/>
                  <a:lumOff val="50000"/>
                </a:schemeClr>
              </a:solidFill>
            </a:endParaRPr>
          </a:p>
        </p:txBody>
      </p:sp>
      <p:sp>
        <p:nvSpPr>
          <p:cNvPr id="11" name="Shape 6">
            <a:extLst>
              <a:ext uri="{FF2B5EF4-FFF2-40B4-BE49-F238E27FC236}">
                <a16:creationId xmlns:a16="http://schemas.microsoft.com/office/drawing/2014/main" id="{F08FF22C-29DF-7C11-A6C5-3F127C81878A}"/>
              </a:ext>
            </a:extLst>
          </p:cNvPr>
          <p:cNvSpPr/>
          <p:nvPr/>
        </p:nvSpPr>
        <p:spPr>
          <a:xfrm>
            <a:off x="457200" y="4937760"/>
            <a:ext cx="2011680" cy="0"/>
          </a:xfrm>
          <a:prstGeom prst="line">
            <a:avLst/>
          </a:prstGeom>
          <a:ln/>
        </p:spPr>
        <p:style>
          <a:lnRef idx="3">
            <a:schemeClr val="accent3"/>
          </a:lnRef>
          <a:fillRef idx="0">
            <a:schemeClr val="accent3"/>
          </a:fillRef>
          <a:effectRef idx="2">
            <a:schemeClr val="accent3"/>
          </a:effectRef>
          <a:fontRef idx="minor">
            <a:schemeClr val="tx1"/>
          </a:fontRef>
        </p:style>
        <p:txBody>
          <a:bodyPr/>
          <a:lstStyle/>
          <a:p>
            <a:endParaRPr lang="en-US"/>
          </a:p>
        </p:txBody>
      </p:sp>
      <p:sp>
        <p:nvSpPr>
          <p:cNvPr id="12" name="Text 7">
            <a:extLst>
              <a:ext uri="{FF2B5EF4-FFF2-40B4-BE49-F238E27FC236}">
                <a16:creationId xmlns:a16="http://schemas.microsoft.com/office/drawing/2014/main" id="{04461EF6-8027-6D03-CC8A-B0B22426E968}"/>
              </a:ext>
            </a:extLst>
          </p:cNvPr>
          <p:cNvSpPr txBox="1"/>
          <p:nvPr/>
        </p:nvSpPr>
        <p:spPr>
          <a:xfrm>
            <a:off x="457200" y="4937760"/>
            <a:ext cx="5486400" cy="822960"/>
          </a:xfrm>
          <a:prstGeom prst="rect">
            <a:avLst/>
          </a:prstGeom>
          <a:noFill/>
          <a:ln/>
        </p:spPr>
        <p:txBody>
          <a:bodyPr wrap="square" lIns="0" tIns="0" rIns="0" bIns="0" rtlCol="0" anchor="ctr"/>
          <a:lstStyle/>
          <a:p>
            <a:pPr marL="0" indent="0">
              <a:lnSpc>
                <a:spcPct val="130000"/>
              </a:lnSpc>
              <a:buNone/>
            </a:pPr>
            <a:r>
              <a:rPr lang="en-US" sz="1500" dirty="0">
                <a:solidFill>
                  <a:schemeClr val="tx2"/>
                </a:solidFill>
                <a:latin typeface="Calibri" pitchFamily="34" charset="0"/>
                <a:ea typeface="Calibri" pitchFamily="34" charset="-122"/>
                <a:cs typeface="Calibri" pitchFamily="34" charset="-120"/>
              </a:rPr>
              <a:t>Anirudh Harathi</a:t>
            </a:r>
            <a:endParaRPr lang="en-US" sz="1500" dirty="0">
              <a:solidFill>
                <a:schemeClr val="tx2"/>
              </a:solidFill>
            </a:endParaRPr>
          </a:p>
          <a:p>
            <a:pPr>
              <a:lnSpc>
                <a:spcPct val="100000"/>
              </a:lnSpc>
            </a:pPr>
            <a:r>
              <a:rPr lang="en-US" sz="1500" dirty="0">
                <a:solidFill>
                  <a:schemeClr val="tx2"/>
                </a:solidFill>
                <a:latin typeface="Calibri" pitchFamily="34" charset="0"/>
                <a:ea typeface="Calibri" pitchFamily="34" charset="-122"/>
                <a:cs typeface="Calibri" pitchFamily="34" charset="-120"/>
              </a:rPr>
              <a:t>Mentor</a:t>
            </a:r>
            <a:r>
              <a:rPr lang="en-US" sz="1500">
                <a:solidFill>
                  <a:schemeClr val="tx2"/>
                </a:solidFill>
                <a:latin typeface="Calibri" pitchFamily="34" charset="0"/>
                <a:ea typeface="Calibri" pitchFamily="34" charset="-122"/>
                <a:cs typeface="Calibri" pitchFamily="34" charset="-120"/>
              </a:rPr>
              <a:t>: Mr. </a:t>
            </a:r>
            <a:r>
              <a:rPr lang="en-US" sz="1500"/>
              <a:t>Kartik Umesh Sharma</a:t>
            </a:r>
          </a:p>
          <a:p>
            <a:pPr marL="0" indent="0">
              <a:lnSpc>
                <a:spcPct val="130000"/>
              </a:lnSpc>
              <a:buNone/>
            </a:pPr>
            <a:endParaRPr lang="en-US" sz="1500" b="1" dirty="0">
              <a:solidFill>
                <a:schemeClr val="tx2"/>
              </a:solidFill>
            </a:endParaRPr>
          </a:p>
        </p:txBody>
      </p:sp>
    </p:spTree>
    <p:extLst>
      <p:ext uri="{BB962C8B-B14F-4D97-AF65-F5344CB8AC3E}">
        <p14:creationId xmlns:p14="http://schemas.microsoft.com/office/powerpoint/2010/main" val="2027300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Executive Summary</a:t>
            </a:r>
            <a:endParaRPr lang="en-US" sz="3000" dirty="0"/>
          </a:p>
        </p:txBody>
      </p:sp>
      <p:sp>
        <p:nvSpPr>
          <p:cNvPr id="3" name="Shape 1"/>
          <p:cNvSpPr/>
          <p:nvPr/>
        </p:nvSpPr>
        <p:spPr>
          <a:xfrm>
            <a:off x="457200" y="1234440"/>
            <a:ext cx="502920" cy="502920"/>
          </a:xfrm>
          <a:prstGeom prst="ellipse">
            <a:avLst/>
          </a:prstGeom>
          <a:solidFill>
            <a:srgbClr val="065A82"/>
          </a:solidFill>
          <a:ln/>
        </p:spPr>
        <p:txBody>
          <a:bodyPr/>
          <a:lstStyle/>
          <a:p>
            <a:endParaRPr lang="en-US"/>
          </a:p>
        </p:txBody>
      </p:sp>
      <p:sp>
        <p:nvSpPr>
          <p:cNvPr id="4" name="Text 2"/>
          <p:cNvSpPr txBox="1"/>
          <p:nvPr/>
        </p:nvSpPr>
        <p:spPr>
          <a:xfrm>
            <a:off x="457200" y="123444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OBJ</a:t>
            </a:r>
            <a:endParaRPr lang="en-US" sz="1000" dirty="0"/>
          </a:p>
        </p:txBody>
      </p:sp>
      <p:sp>
        <p:nvSpPr>
          <p:cNvPr id="5" name="Text 3"/>
          <p:cNvSpPr txBox="1"/>
          <p:nvPr/>
        </p:nvSpPr>
        <p:spPr>
          <a:xfrm>
            <a:off x="1143000" y="1188720"/>
            <a:ext cx="2743200"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Objective</a:t>
            </a:r>
            <a:endParaRPr lang="en-US" sz="1400" dirty="0"/>
          </a:p>
        </p:txBody>
      </p:sp>
      <p:sp>
        <p:nvSpPr>
          <p:cNvPr id="6" name="Text 4"/>
          <p:cNvSpPr txBox="1"/>
          <p:nvPr/>
        </p:nvSpPr>
        <p:spPr>
          <a:xfrm>
            <a:off x="1143000" y="1490472"/>
            <a:ext cx="10591495" cy="457200"/>
          </a:xfrm>
          <a:prstGeom prst="rect">
            <a:avLst/>
          </a:prstGeom>
          <a:noFill/>
          <a:ln/>
        </p:spPr>
        <p:txBody>
          <a:bodyPr wrap="square" lIns="0" tIns="0" rIns="0" bIns="0" rtlCol="0" anchor="ctr"/>
          <a:lstStyle/>
          <a:p>
            <a:pPr marL="0" indent="0">
              <a:lnSpc>
                <a:spcPct val="105000"/>
              </a:lnSpc>
              <a:buNone/>
            </a:pPr>
            <a:r>
              <a:rPr lang="en-US" sz="1200" dirty="0">
                <a:solidFill>
                  <a:srgbClr val="1B2A3A"/>
                </a:solidFill>
                <a:latin typeface="Calibri" pitchFamily="34" charset="0"/>
                <a:ea typeface="Calibri" pitchFamily="34" charset="-122"/>
                <a:cs typeface="Calibri" pitchFamily="34" charset="-120"/>
              </a:rPr>
              <a:t>Develop a district-level, data-driven framework to measure healthcare infrastructure gaps and support prioritization across India.</a:t>
            </a:r>
            <a:endParaRPr lang="en-US" sz="1200" dirty="0"/>
          </a:p>
        </p:txBody>
      </p:sp>
      <p:sp>
        <p:nvSpPr>
          <p:cNvPr id="7" name="Shape 5"/>
          <p:cNvSpPr/>
          <p:nvPr/>
        </p:nvSpPr>
        <p:spPr>
          <a:xfrm>
            <a:off x="457200" y="1947672"/>
            <a:ext cx="502920" cy="502920"/>
          </a:xfrm>
          <a:prstGeom prst="ellipse">
            <a:avLst/>
          </a:prstGeom>
          <a:solidFill>
            <a:srgbClr val="065A82"/>
          </a:solidFill>
          <a:ln/>
        </p:spPr>
        <p:txBody>
          <a:bodyPr/>
          <a:lstStyle/>
          <a:p>
            <a:endParaRPr lang="en-US"/>
          </a:p>
        </p:txBody>
      </p:sp>
      <p:sp>
        <p:nvSpPr>
          <p:cNvPr id="8" name="Text 6"/>
          <p:cNvSpPr txBox="1"/>
          <p:nvPr/>
        </p:nvSpPr>
        <p:spPr>
          <a:xfrm>
            <a:off x="457200" y="1947672"/>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p:txBody>
      </p:sp>
      <p:sp>
        <p:nvSpPr>
          <p:cNvPr id="9" name="Text 7"/>
          <p:cNvSpPr txBox="1"/>
          <p:nvPr/>
        </p:nvSpPr>
        <p:spPr>
          <a:xfrm>
            <a:off x="1143000" y="1901952"/>
            <a:ext cx="2743200"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Data</a:t>
            </a:r>
            <a:endParaRPr lang="en-US" sz="1400" dirty="0"/>
          </a:p>
        </p:txBody>
      </p:sp>
      <p:sp>
        <p:nvSpPr>
          <p:cNvPr id="10" name="Text 8"/>
          <p:cNvSpPr txBox="1"/>
          <p:nvPr/>
        </p:nvSpPr>
        <p:spPr>
          <a:xfrm>
            <a:off x="1143000" y="2203704"/>
            <a:ext cx="10591495" cy="457200"/>
          </a:xfrm>
          <a:prstGeom prst="rect">
            <a:avLst/>
          </a:prstGeom>
          <a:noFill/>
          <a:ln/>
        </p:spPr>
        <p:txBody>
          <a:bodyPr wrap="square" lIns="0" tIns="0" rIns="0" bIns="0" rtlCol="0" anchor="ctr"/>
          <a:lstStyle/>
          <a:p>
            <a:pPr marL="0" indent="0">
              <a:lnSpc>
                <a:spcPct val="105000"/>
              </a:lnSpc>
              <a:buNone/>
            </a:pPr>
            <a:r>
              <a:rPr lang="en-US" sz="1200" dirty="0">
                <a:solidFill>
                  <a:srgbClr val="1B2A3A"/>
                </a:solidFill>
                <a:latin typeface="Calibri" pitchFamily="34" charset="0"/>
                <a:ea typeface="Calibri" pitchFamily="34" charset="-122"/>
                <a:cs typeface="Calibri" pitchFamily="34" charset="-120"/>
              </a:rPr>
              <a:t>Integrated RHS, Census of India 2011, and NFHS-5 data covering 488 districts and 18 variables.</a:t>
            </a:r>
            <a:endParaRPr lang="en-US" sz="1200" dirty="0"/>
          </a:p>
        </p:txBody>
      </p:sp>
      <p:sp>
        <p:nvSpPr>
          <p:cNvPr id="11" name="Shape 9"/>
          <p:cNvSpPr/>
          <p:nvPr/>
        </p:nvSpPr>
        <p:spPr>
          <a:xfrm>
            <a:off x="457200" y="2660904"/>
            <a:ext cx="502920" cy="502920"/>
          </a:xfrm>
          <a:prstGeom prst="ellipse">
            <a:avLst/>
          </a:prstGeom>
          <a:solidFill>
            <a:srgbClr val="065A82"/>
          </a:solidFill>
          <a:ln/>
        </p:spPr>
        <p:txBody>
          <a:bodyPr/>
          <a:lstStyle/>
          <a:p>
            <a:endParaRPr lang="en-US"/>
          </a:p>
        </p:txBody>
      </p:sp>
      <p:sp>
        <p:nvSpPr>
          <p:cNvPr id="12" name="Text 10"/>
          <p:cNvSpPr txBox="1"/>
          <p:nvPr/>
        </p:nvSpPr>
        <p:spPr>
          <a:xfrm>
            <a:off x="457200" y="2660904"/>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a:t>
            </a:r>
            <a:endParaRPr lang="en-US" sz="1000" dirty="0"/>
          </a:p>
        </p:txBody>
      </p:sp>
      <p:sp>
        <p:nvSpPr>
          <p:cNvPr id="13" name="Text 11"/>
          <p:cNvSpPr txBox="1"/>
          <p:nvPr/>
        </p:nvSpPr>
        <p:spPr>
          <a:xfrm>
            <a:off x="1143000" y="2615184"/>
            <a:ext cx="2743200"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Approach</a:t>
            </a:r>
            <a:endParaRPr lang="en-US" sz="1400" dirty="0"/>
          </a:p>
        </p:txBody>
      </p:sp>
      <p:sp>
        <p:nvSpPr>
          <p:cNvPr id="14" name="Text 12"/>
          <p:cNvSpPr txBox="1"/>
          <p:nvPr/>
        </p:nvSpPr>
        <p:spPr>
          <a:xfrm>
            <a:off x="1143000" y="2916936"/>
            <a:ext cx="10591495" cy="457200"/>
          </a:xfrm>
          <a:prstGeom prst="rect">
            <a:avLst/>
          </a:prstGeom>
          <a:noFill/>
          <a:ln/>
        </p:spPr>
        <p:txBody>
          <a:bodyPr wrap="square" lIns="0" tIns="0" rIns="0" bIns="0" rtlCol="0" anchor="ctr"/>
          <a:lstStyle/>
          <a:p>
            <a:pPr marL="0" indent="0">
              <a:lnSpc>
                <a:spcPct val="105000"/>
              </a:lnSpc>
              <a:buNone/>
            </a:pPr>
            <a:r>
              <a:rPr lang="en-US" sz="1200" dirty="0">
                <a:solidFill>
                  <a:srgbClr val="1B2A3A"/>
                </a:solidFill>
                <a:latin typeface="Calibri" pitchFamily="34" charset="0"/>
                <a:ea typeface="Calibri" pitchFamily="34" charset="-122"/>
                <a:cs typeface="Calibri" pitchFamily="34" charset="-120"/>
              </a:rPr>
              <a:t>Constructed the Healthcare Infrastructure Gap Index (HIGI), profiled districts with K-Means, and built an AI-assisted Random Forest prioritization model.</a:t>
            </a:r>
            <a:endParaRPr lang="en-US" sz="1200" dirty="0"/>
          </a:p>
        </p:txBody>
      </p:sp>
      <p:sp>
        <p:nvSpPr>
          <p:cNvPr id="15" name="Shape 13"/>
          <p:cNvSpPr/>
          <p:nvPr/>
        </p:nvSpPr>
        <p:spPr>
          <a:xfrm>
            <a:off x="457200" y="3374136"/>
            <a:ext cx="502920" cy="502920"/>
          </a:xfrm>
          <a:prstGeom prst="ellipse">
            <a:avLst/>
          </a:prstGeom>
          <a:solidFill>
            <a:srgbClr val="065A82"/>
          </a:solidFill>
          <a:ln/>
        </p:spPr>
        <p:txBody>
          <a:bodyPr/>
          <a:lstStyle/>
          <a:p>
            <a:endParaRPr lang="en-US"/>
          </a:p>
        </p:txBody>
      </p:sp>
      <p:sp>
        <p:nvSpPr>
          <p:cNvPr id="16" name="Text 14"/>
          <p:cNvSpPr txBox="1"/>
          <p:nvPr/>
        </p:nvSpPr>
        <p:spPr>
          <a:xfrm>
            <a:off x="457200" y="3374136"/>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RES</a:t>
            </a:r>
            <a:endParaRPr lang="en-US" sz="1000" dirty="0"/>
          </a:p>
        </p:txBody>
      </p:sp>
      <p:sp>
        <p:nvSpPr>
          <p:cNvPr id="17" name="Text 15"/>
          <p:cNvSpPr txBox="1"/>
          <p:nvPr/>
        </p:nvSpPr>
        <p:spPr>
          <a:xfrm>
            <a:off x="1143000" y="3328416"/>
            <a:ext cx="2743200"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Key Results</a:t>
            </a:r>
            <a:endParaRPr lang="en-US" sz="1400" dirty="0"/>
          </a:p>
        </p:txBody>
      </p:sp>
      <p:sp>
        <p:nvSpPr>
          <p:cNvPr id="18" name="Text 16"/>
          <p:cNvSpPr txBox="1"/>
          <p:nvPr/>
        </p:nvSpPr>
        <p:spPr>
          <a:xfrm>
            <a:off x="1143000" y="3630168"/>
            <a:ext cx="10591495" cy="457200"/>
          </a:xfrm>
          <a:prstGeom prst="rect">
            <a:avLst/>
          </a:prstGeom>
          <a:noFill/>
          <a:ln/>
        </p:spPr>
        <p:txBody>
          <a:bodyPr wrap="square" lIns="0" tIns="0" rIns="0" bIns="0" rtlCol="0" anchor="ctr"/>
          <a:lstStyle/>
          <a:p>
            <a:pPr marL="0" indent="0">
              <a:lnSpc>
                <a:spcPct val="105000"/>
              </a:lnSpc>
              <a:buNone/>
            </a:pPr>
            <a:r>
              <a:rPr lang="en-US" sz="1200" dirty="0">
                <a:solidFill>
                  <a:srgbClr val="1B2A3A"/>
                </a:solidFill>
                <a:latin typeface="Calibri" pitchFamily="34" charset="0"/>
                <a:ea typeface="Calibri" pitchFamily="34" charset="-122"/>
                <a:cs typeface="Calibri" pitchFamily="34" charset="-120"/>
              </a:rPr>
              <a:t>HIGI ranged 0.0861–0.9765; Random Forest achieved R² = 0.7092, MAE = 0.0524; three district </a:t>
            </a:r>
            <a:r>
              <a:rPr lang="en-US" sz="1200">
                <a:solidFill>
                  <a:srgbClr val="1B2A3A"/>
                </a:solidFill>
                <a:latin typeface="Calibri" pitchFamily="34" charset="0"/>
                <a:ea typeface="Calibri" pitchFamily="34" charset="-122"/>
                <a:cs typeface="Calibri" pitchFamily="34" charset="-120"/>
              </a:rPr>
              <a:t>profiles identified with moderate cluster separation.</a:t>
            </a:r>
            <a:endParaRPr lang="en-US" sz="1200" dirty="0"/>
          </a:p>
        </p:txBody>
      </p:sp>
      <p:sp>
        <p:nvSpPr>
          <p:cNvPr id="19" name="Shape 17"/>
          <p:cNvSpPr/>
          <p:nvPr/>
        </p:nvSpPr>
        <p:spPr>
          <a:xfrm>
            <a:off x="457200" y="4087368"/>
            <a:ext cx="502920" cy="502920"/>
          </a:xfrm>
          <a:prstGeom prst="ellipse">
            <a:avLst/>
          </a:prstGeom>
          <a:solidFill>
            <a:srgbClr val="065A82"/>
          </a:solidFill>
          <a:ln/>
        </p:spPr>
        <p:txBody>
          <a:bodyPr/>
          <a:lstStyle/>
          <a:p>
            <a:endParaRPr lang="en-US"/>
          </a:p>
        </p:txBody>
      </p:sp>
      <p:sp>
        <p:nvSpPr>
          <p:cNvPr id="20" name="Text 18"/>
          <p:cNvSpPr txBox="1"/>
          <p:nvPr/>
        </p:nvSpPr>
        <p:spPr>
          <a:xfrm>
            <a:off x="457200" y="4087368"/>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a:t>
            </a:r>
            <a:endParaRPr lang="en-US" sz="1000" dirty="0"/>
          </a:p>
        </p:txBody>
      </p:sp>
      <p:sp>
        <p:nvSpPr>
          <p:cNvPr id="21" name="Text 19"/>
          <p:cNvSpPr txBox="1"/>
          <p:nvPr/>
        </p:nvSpPr>
        <p:spPr>
          <a:xfrm>
            <a:off x="1143000" y="4041648"/>
            <a:ext cx="2743200"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Usage</a:t>
            </a:r>
            <a:endParaRPr lang="en-US" sz="1400" dirty="0"/>
          </a:p>
        </p:txBody>
      </p:sp>
      <p:sp>
        <p:nvSpPr>
          <p:cNvPr id="22" name="Text 20"/>
          <p:cNvSpPr txBox="1"/>
          <p:nvPr/>
        </p:nvSpPr>
        <p:spPr>
          <a:xfrm>
            <a:off x="1143000" y="4343400"/>
            <a:ext cx="10591495" cy="457200"/>
          </a:xfrm>
          <a:prstGeom prst="rect">
            <a:avLst/>
          </a:prstGeom>
          <a:noFill/>
          <a:ln/>
        </p:spPr>
        <p:txBody>
          <a:bodyPr wrap="square" lIns="0" tIns="0" rIns="0" bIns="0" rtlCol="0" anchor="ctr"/>
          <a:lstStyle/>
          <a:p>
            <a:pPr marL="0" indent="0">
              <a:lnSpc>
                <a:spcPct val="105000"/>
              </a:lnSpc>
              <a:buNone/>
            </a:pPr>
            <a:r>
              <a:rPr lang="en-US" sz="1200" dirty="0">
                <a:solidFill>
                  <a:srgbClr val="1B2A3A"/>
                </a:solidFill>
                <a:latin typeface="Calibri" pitchFamily="34" charset="0"/>
                <a:ea typeface="Calibri" pitchFamily="34" charset="-122"/>
                <a:cs typeface="Calibri" pitchFamily="34" charset="-120"/>
              </a:rPr>
              <a:t>HIGI, district profiles, and AI-assisted rankings provide complementary evidence </a:t>
            </a:r>
            <a:r>
              <a:rPr lang="en-US" sz="1200">
                <a:solidFill>
                  <a:srgbClr val="1B2A3A"/>
                </a:solidFill>
                <a:latin typeface="Calibri" pitchFamily="34" charset="0"/>
                <a:ea typeface="Calibri" pitchFamily="34" charset="-122"/>
                <a:cs typeface="Calibri" pitchFamily="34" charset="-120"/>
              </a:rPr>
              <a:t>for planning, while </a:t>
            </a:r>
            <a:r>
              <a:rPr lang="en-US" sz="1200" dirty="0">
                <a:solidFill>
                  <a:srgbClr val="1B2A3A"/>
                </a:solidFill>
                <a:latin typeface="Calibri" pitchFamily="34" charset="0"/>
                <a:ea typeface="Calibri" pitchFamily="34" charset="-122"/>
                <a:cs typeface="Calibri" pitchFamily="34" charset="-120"/>
              </a:rPr>
              <a:t>retaining expert and policy judgement.</a:t>
            </a:r>
            <a:endParaRPr lang="en-US" sz="1200" dirty="0"/>
          </a:p>
        </p:txBody>
      </p:sp>
      <p:sp>
        <p:nvSpPr>
          <p:cNvPr id="23" name="Shape 21"/>
          <p:cNvSpPr/>
          <p:nvPr/>
        </p:nvSpPr>
        <p:spPr>
          <a:xfrm>
            <a:off x="457200" y="5532120"/>
            <a:ext cx="11277295" cy="822960"/>
          </a:xfrm>
          <a:prstGeom prst="roundRect">
            <a:avLst>
              <a:gd name="adj" fmla="val 8889"/>
            </a:avLst>
          </a:prstGeom>
          <a:solidFill>
            <a:srgbClr val="21295C"/>
          </a:solidFill>
          <a:ln/>
        </p:spPr>
        <p:txBody>
          <a:bodyPr/>
          <a:lstStyle/>
          <a:p>
            <a:endParaRPr lang="en-US"/>
          </a:p>
        </p:txBody>
      </p:sp>
      <p:sp>
        <p:nvSpPr>
          <p:cNvPr id="24" name="Text 22"/>
          <p:cNvSpPr txBox="1"/>
          <p:nvPr/>
        </p:nvSpPr>
        <p:spPr>
          <a:xfrm>
            <a:off x="731520" y="5532120"/>
            <a:ext cx="10728655" cy="822960"/>
          </a:xfrm>
          <a:prstGeom prst="rect">
            <a:avLst/>
          </a:prstGeom>
          <a:noFill/>
          <a:ln/>
        </p:spPr>
        <p:txBody>
          <a:bodyPr wrap="square" lIns="0" tIns="0" rIns="0" bIns="0"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The framework converts fragmented district-level data into multiple evidence-based views for healthcare infrastructure prioritization.</a:t>
            </a:r>
            <a:endParaRPr lang="en-US" sz="1350" dirty="0"/>
          </a:p>
        </p:txBody>
      </p:sp>
      <p:sp>
        <p:nvSpPr>
          <p:cNvPr id="25" name="Text 23"/>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Healthcare Infrastructure Gap Index (HIGI)</a:t>
            </a:r>
            <a:endParaRPr lang="en-US" sz="900" dirty="0"/>
          </a:p>
        </p:txBody>
      </p:sp>
      <p:sp>
        <p:nvSpPr>
          <p:cNvPr id="26" name="Text 24"/>
          <p:cNvSpPr txBox="1"/>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a:solidFill>
                  <a:srgbClr val="21295C"/>
                </a:solidFill>
                <a:latin typeface="Cambria" pitchFamily="34" charset="0"/>
                <a:ea typeface="Cambria" pitchFamily="34" charset="-122"/>
                <a:cs typeface="Cambria" pitchFamily="34" charset="-120"/>
              </a:rPr>
              <a:t>Gap Analysis</a:t>
            </a:r>
            <a:endParaRPr lang="en-US" sz="3000" dirty="0"/>
          </a:p>
        </p:txBody>
      </p:sp>
      <p:sp>
        <p:nvSpPr>
          <p:cNvPr id="3" name="Shape 1"/>
          <p:cNvSpPr/>
          <p:nvPr/>
        </p:nvSpPr>
        <p:spPr>
          <a:xfrm>
            <a:off x="457200" y="1417320"/>
            <a:ext cx="2514600" cy="1417320"/>
          </a:xfrm>
          <a:prstGeom prst="roundRect">
            <a:avLst>
              <a:gd name="adj" fmla="val 3871"/>
            </a:avLst>
          </a:prstGeom>
          <a:solidFill>
            <a:srgbClr val="065A82"/>
          </a:solidFill>
          <a:ln/>
        </p:spPr>
        <p:txBody>
          <a:bodyPr/>
          <a:lstStyle/>
          <a:p>
            <a:endParaRPr lang="en-US"/>
          </a:p>
        </p:txBody>
      </p:sp>
      <p:sp>
        <p:nvSpPr>
          <p:cNvPr id="4" name="Text 2"/>
          <p:cNvSpPr txBox="1"/>
          <p:nvPr/>
        </p:nvSpPr>
        <p:spPr>
          <a:xfrm>
            <a:off x="566928" y="1508760"/>
            <a:ext cx="2295144" cy="36576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Multiple Dimensions</a:t>
            </a:r>
            <a:endParaRPr lang="en-US" sz="1300" dirty="0"/>
          </a:p>
        </p:txBody>
      </p:sp>
      <p:sp>
        <p:nvSpPr>
          <p:cNvPr id="5" name="Text 3"/>
          <p:cNvSpPr txBox="1"/>
          <p:nvPr/>
        </p:nvSpPr>
        <p:spPr>
          <a:xfrm>
            <a:off x="566928" y="1892808"/>
            <a:ext cx="2295144" cy="868680"/>
          </a:xfrm>
          <a:prstGeom prst="rect">
            <a:avLst/>
          </a:prstGeom>
          <a:noFill/>
          <a:ln/>
        </p:spPr>
        <p:txBody>
          <a:bodyPr wrap="square" lIns="0" tIns="0" rIns="0" bIns="0" rtlCol="0" anchor="ctr"/>
          <a:lstStyle/>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Healthcare infrastructure</a:t>
            </a:r>
            <a:endParaRPr lang="en-US" sz="1050" dirty="0"/>
          </a:p>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Population &amp; demographics</a:t>
            </a:r>
            <a:endParaRPr lang="en-US" sz="1050" dirty="0"/>
          </a:p>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Health outcomes</a:t>
            </a:r>
            <a:endParaRPr lang="en-US" sz="1050" dirty="0"/>
          </a:p>
        </p:txBody>
      </p:sp>
      <p:sp>
        <p:nvSpPr>
          <p:cNvPr id="6" name="Shape 4"/>
          <p:cNvSpPr/>
          <p:nvPr/>
        </p:nvSpPr>
        <p:spPr>
          <a:xfrm>
            <a:off x="2990088" y="2007108"/>
            <a:ext cx="219456" cy="237744"/>
          </a:xfrm>
          <a:prstGeom prst="rightArrow">
            <a:avLst/>
          </a:prstGeom>
          <a:solidFill>
            <a:srgbClr val="5B6B79"/>
          </a:solidFill>
          <a:ln/>
        </p:spPr>
        <p:txBody>
          <a:bodyPr/>
          <a:lstStyle/>
          <a:p>
            <a:endParaRPr lang="en-US"/>
          </a:p>
        </p:txBody>
      </p:sp>
      <p:sp>
        <p:nvSpPr>
          <p:cNvPr id="7" name="Shape 5"/>
          <p:cNvSpPr/>
          <p:nvPr/>
        </p:nvSpPr>
        <p:spPr>
          <a:xfrm>
            <a:off x="3227832" y="1417320"/>
            <a:ext cx="2514600" cy="1417320"/>
          </a:xfrm>
          <a:prstGeom prst="roundRect">
            <a:avLst>
              <a:gd name="adj" fmla="val 3871"/>
            </a:avLst>
          </a:prstGeom>
          <a:solidFill>
            <a:srgbClr val="1C7293"/>
          </a:solidFill>
          <a:ln/>
        </p:spPr>
        <p:txBody>
          <a:bodyPr/>
          <a:lstStyle/>
          <a:p>
            <a:endParaRPr lang="en-US"/>
          </a:p>
        </p:txBody>
      </p:sp>
      <p:sp>
        <p:nvSpPr>
          <p:cNvPr id="8" name="Text 6"/>
          <p:cNvSpPr txBox="1"/>
          <p:nvPr/>
        </p:nvSpPr>
        <p:spPr>
          <a:xfrm>
            <a:off x="3337560" y="1508760"/>
            <a:ext cx="2295144" cy="36576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Fragmented Datasets</a:t>
            </a:r>
            <a:endParaRPr lang="en-US" sz="1300" dirty="0"/>
          </a:p>
        </p:txBody>
      </p:sp>
      <p:sp>
        <p:nvSpPr>
          <p:cNvPr id="9" name="Text 7"/>
          <p:cNvSpPr txBox="1"/>
          <p:nvPr/>
        </p:nvSpPr>
        <p:spPr>
          <a:xfrm>
            <a:off x="3337560" y="1892808"/>
            <a:ext cx="2295144" cy="868680"/>
          </a:xfrm>
          <a:prstGeom prst="rect">
            <a:avLst/>
          </a:prstGeom>
          <a:noFill/>
          <a:ln/>
        </p:spPr>
        <p:txBody>
          <a:bodyPr wrap="square" lIns="0" tIns="0" rIns="0" bIns="0" rtlCol="0" anchor="ctr"/>
          <a:lstStyle/>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RHS</a:t>
            </a:r>
            <a:endParaRPr lang="en-US" sz="1050" dirty="0"/>
          </a:p>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Census 2011</a:t>
            </a:r>
            <a:endParaRPr lang="en-US" sz="1050" dirty="0"/>
          </a:p>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NFHS-5</a:t>
            </a:r>
            <a:endParaRPr lang="en-US" sz="1050" dirty="0"/>
          </a:p>
        </p:txBody>
      </p:sp>
      <p:sp>
        <p:nvSpPr>
          <p:cNvPr id="10" name="Shape 8"/>
          <p:cNvSpPr/>
          <p:nvPr/>
        </p:nvSpPr>
        <p:spPr>
          <a:xfrm>
            <a:off x="5760720" y="2007108"/>
            <a:ext cx="219456" cy="237744"/>
          </a:xfrm>
          <a:prstGeom prst="rightArrow">
            <a:avLst/>
          </a:prstGeom>
          <a:solidFill>
            <a:srgbClr val="5B6B79"/>
          </a:solidFill>
          <a:ln/>
        </p:spPr>
        <p:txBody>
          <a:bodyPr/>
          <a:lstStyle/>
          <a:p>
            <a:endParaRPr lang="en-US"/>
          </a:p>
        </p:txBody>
      </p:sp>
      <p:sp>
        <p:nvSpPr>
          <p:cNvPr id="11" name="Shape 9"/>
          <p:cNvSpPr/>
          <p:nvPr/>
        </p:nvSpPr>
        <p:spPr>
          <a:xfrm>
            <a:off x="5998464" y="1417320"/>
            <a:ext cx="2514600" cy="1417320"/>
          </a:xfrm>
          <a:prstGeom prst="roundRect">
            <a:avLst>
              <a:gd name="adj" fmla="val 3871"/>
            </a:avLst>
          </a:prstGeom>
          <a:solidFill>
            <a:srgbClr val="3A7CA5"/>
          </a:solidFill>
          <a:ln/>
        </p:spPr>
        <p:txBody>
          <a:bodyPr/>
          <a:lstStyle/>
          <a:p>
            <a:endParaRPr lang="en-US"/>
          </a:p>
        </p:txBody>
      </p:sp>
      <p:sp>
        <p:nvSpPr>
          <p:cNvPr id="12" name="Text 10"/>
          <p:cNvSpPr txBox="1"/>
          <p:nvPr/>
        </p:nvSpPr>
        <p:spPr>
          <a:xfrm>
            <a:off x="6108192" y="1508760"/>
            <a:ext cx="2295144" cy="36576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Challenge</a:t>
            </a:r>
            <a:endParaRPr lang="en-US" sz="1300" dirty="0"/>
          </a:p>
        </p:txBody>
      </p:sp>
      <p:sp>
        <p:nvSpPr>
          <p:cNvPr id="13" name="Text 11"/>
          <p:cNvSpPr txBox="1"/>
          <p:nvPr/>
        </p:nvSpPr>
        <p:spPr>
          <a:xfrm>
            <a:off x="6108192" y="1892808"/>
            <a:ext cx="2295144" cy="868680"/>
          </a:xfrm>
          <a:prstGeom prst="rect">
            <a:avLst/>
          </a:prstGeom>
          <a:noFill/>
          <a:ln/>
        </p:spPr>
        <p:txBody>
          <a:bodyPr wrap="square" lIns="0" tIns="0" rIns="0" bIns="0" rtlCol="0" anchor="ctr"/>
          <a:lstStyle/>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Different scales/structures</a:t>
            </a:r>
            <a:endParaRPr lang="en-US" sz="1050" dirty="0"/>
          </a:p>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Hard to compare districts</a:t>
            </a:r>
            <a:endParaRPr lang="en-US" sz="1050" dirty="0"/>
          </a:p>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Multidimensional gaps</a:t>
            </a:r>
            <a:endParaRPr lang="en-US" sz="1050" dirty="0"/>
          </a:p>
        </p:txBody>
      </p:sp>
      <p:sp>
        <p:nvSpPr>
          <p:cNvPr id="14" name="Shape 12"/>
          <p:cNvSpPr/>
          <p:nvPr/>
        </p:nvSpPr>
        <p:spPr>
          <a:xfrm>
            <a:off x="8531352" y="2007108"/>
            <a:ext cx="219456" cy="237744"/>
          </a:xfrm>
          <a:prstGeom prst="rightArrow">
            <a:avLst/>
          </a:prstGeom>
          <a:solidFill>
            <a:srgbClr val="5B6B79"/>
          </a:solidFill>
          <a:ln/>
        </p:spPr>
        <p:txBody>
          <a:bodyPr/>
          <a:lstStyle/>
          <a:p>
            <a:endParaRPr lang="en-US"/>
          </a:p>
        </p:txBody>
      </p:sp>
      <p:sp>
        <p:nvSpPr>
          <p:cNvPr id="15" name="Shape 13"/>
          <p:cNvSpPr/>
          <p:nvPr/>
        </p:nvSpPr>
        <p:spPr>
          <a:xfrm>
            <a:off x="8769096" y="1417320"/>
            <a:ext cx="2514600" cy="1417320"/>
          </a:xfrm>
          <a:prstGeom prst="roundRect">
            <a:avLst>
              <a:gd name="adj" fmla="val 3871"/>
            </a:avLst>
          </a:prstGeom>
          <a:solidFill>
            <a:srgbClr val="21295C"/>
          </a:solidFill>
          <a:ln/>
        </p:spPr>
        <p:txBody>
          <a:bodyPr/>
          <a:lstStyle/>
          <a:p>
            <a:endParaRPr lang="en-US"/>
          </a:p>
        </p:txBody>
      </p:sp>
      <p:sp>
        <p:nvSpPr>
          <p:cNvPr id="16" name="Text 14"/>
          <p:cNvSpPr txBox="1"/>
          <p:nvPr/>
        </p:nvSpPr>
        <p:spPr>
          <a:xfrm>
            <a:off x="8878824" y="1508760"/>
            <a:ext cx="2295144" cy="36576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Study Contribution</a:t>
            </a:r>
            <a:endParaRPr lang="en-US" sz="1300" dirty="0"/>
          </a:p>
        </p:txBody>
      </p:sp>
      <p:sp>
        <p:nvSpPr>
          <p:cNvPr id="17" name="Text 15"/>
          <p:cNvSpPr txBox="1"/>
          <p:nvPr/>
        </p:nvSpPr>
        <p:spPr>
          <a:xfrm>
            <a:off x="8878824" y="1892808"/>
            <a:ext cx="2295144" cy="868680"/>
          </a:xfrm>
          <a:prstGeom prst="rect">
            <a:avLst/>
          </a:prstGeom>
          <a:noFill/>
          <a:ln/>
        </p:spPr>
        <p:txBody>
          <a:bodyPr wrap="square" lIns="0" tIns="0" rIns="0" bIns="0" rtlCol="0" anchor="ctr"/>
          <a:lstStyle/>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HIGI</a:t>
            </a:r>
            <a:endParaRPr lang="en-US" sz="1050" dirty="0"/>
          </a:p>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District Profiling</a:t>
            </a:r>
            <a:endParaRPr lang="en-US" sz="1050" dirty="0"/>
          </a:p>
          <a:p>
            <a:pPr marL="342900" indent="-342900">
              <a:lnSpc>
                <a:spcPct val="110000"/>
              </a:lnSpc>
              <a:buSzPct val="100000"/>
              <a:buChar char="•"/>
            </a:pPr>
            <a:r>
              <a:rPr lang="en-US" sz="1050" dirty="0">
                <a:solidFill>
                  <a:srgbClr val="FFFFFF"/>
                </a:solidFill>
                <a:latin typeface="Calibri" pitchFamily="34" charset="0"/>
                <a:ea typeface="Calibri" pitchFamily="34" charset="-122"/>
                <a:cs typeface="Calibri" pitchFamily="34" charset="-120"/>
              </a:rPr>
              <a:t>AI-assisted Ranking</a:t>
            </a:r>
            <a:endParaRPr lang="en-US" sz="1050" dirty="0"/>
          </a:p>
        </p:txBody>
      </p:sp>
      <p:sp>
        <p:nvSpPr>
          <p:cNvPr id="18" name="Shape 16"/>
          <p:cNvSpPr/>
          <p:nvPr/>
        </p:nvSpPr>
        <p:spPr>
          <a:xfrm>
            <a:off x="457200" y="3154680"/>
            <a:ext cx="11277295" cy="960120"/>
          </a:xfrm>
          <a:prstGeom prst="roundRect">
            <a:avLst>
              <a:gd name="adj" fmla="val 5714"/>
            </a:avLst>
          </a:prstGeom>
          <a:solidFill>
            <a:srgbClr val="9FD8CB"/>
          </a:solidFill>
          <a:ln/>
        </p:spPr>
        <p:txBody>
          <a:bodyPr/>
          <a:lstStyle/>
          <a:p>
            <a:endParaRPr lang="en-US"/>
          </a:p>
        </p:txBody>
      </p:sp>
      <p:sp>
        <p:nvSpPr>
          <p:cNvPr id="19" name="Text 17"/>
          <p:cNvSpPr txBox="1"/>
          <p:nvPr/>
        </p:nvSpPr>
        <p:spPr>
          <a:xfrm>
            <a:off x="685800" y="3246120"/>
            <a:ext cx="2743200" cy="274320"/>
          </a:xfrm>
          <a:prstGeom prst="rect">
            <a:avLst/>
          </a:prstGeom>
          <a:noFill/>
          <a:ln/>
        </p:spPr>
        <p:txBody>
          <a:bodyPr wrap="square" lIns="0" tIns="0" rIns="0" bIns="0" rtlCol="0" anchor="ctr"/>
          <a:lstStyle/>
          <a:p>
            <a:pPr marL="0" indent="0">
              <a:buNone/>
            </a:pPr>
            <a:r>
              <a:rPr lang="en-US" sz="1100" b="1" kern="0" spc="200" dirty="0">
                <a:solidFill>
                  <a:srgbClr val="21295C"/>
                </a:solidFill>
                <a:latin typeface="Calibri" pitchFamily="34" charset="0"/>
                <a:ea typeface="Calibri" pitchFamily="34" charset="-122"/>
                <a:cs typeface="Calibri" pitchFamily="34" charset="-120"/>
              </a:rPr>
              <a:t>IDENTIFIED GAP</a:t>
            </a:r>
            <a:endParaRPr lang="en-US" sz="1100" dirty="0"/>
          </a:p>
        </p:txBody>
      </p:sp>
      <p:sp>
        <p:nvSpPr>
          <p:cNvPr id="20" name="Text 18"/>
          <p:cNvSpPr txBox="1"/>
          <p:nvPr/>
        </p:nvSpPr>
        <p:spPr>
          <a:xfrm>
            <a:off x="685800" y="3520440"/>
            <a:ext cx="10820095" cy="548640"/>
          </a:xfrm>
          <a:prstGeom prst="rect">
            <a:avLst/>
          </a:prstGeom>
          <a:noFill/>
          <a:ln/>
        </p:spPr>
        <p:txBody>
          <a:bodyPr wrap="square" lIns="0" tIns="0" rIns="0" bIns="0" rtlCol="0" anchor="ctr"/>
          <a:lstStyle/>
          <a:p>
            <a:pPr marL="0" indent="0">
              <a:lnSpc>
                <a:spcPct val="110000"/>
              </a:lnSpc>
              <a:buNone/>
            </a:pPr>
            <a:r>
              <a:rPr lang="en-US" sz="1300" dirty="0">
                <a:solidFill>
                  <a:srgbClr val="1B2A3A"/>
                </a:solidFill>
                <a:latin typeface="Calibri" pitchFamily="34" charset="0"/>
                <a:ea typeface="Calibri" pitchFamily="34" charset="-122"/>
                <a:cs typeface="Calibri" pitchFamily="34" charset="-120"/>
              </a:rPr>
              <a:t>Need for an integrated, district-level analytical framework that combines infrastructure measurement with statistical analysis and machine learning to support prioritization.</a:t>
            </a:r>
            <a:endParaRPr lang="en-US" sz="1300" dirty="0"/>
          </a:p>
        </p:txBody>
      </p:sp>
      <p:sp>
        <p:nvSpPr>
          <p:cNvPr id="21" name="Shape 19"/>
          <p:cNvSpPr/>
          <p:nvPr/>
        </p:nvSpPr>
        <p:spPr>
          <a:xfrm>
            <a:off x="457200" y="4343400"/>
            <a:ext cx="11277295" cy="1508760"/>
          </a:xfrm>
          <a:prstGeom prst="roundRect">
            <a:avLst>
              <a:gd name="adj" fmla="val 3636"/>
            </a:avLst>
          </a:prstGeom>
          <a:solidFill>
            <a:srgbClr val="FFFFFF"/>
          </a:solidFill>
          <a:ln w="15875">
            <a:solidFill>
              <a:srgbClr val="065A82"/>
            </a:solidFill>
            <a:prstDash val="solid"/>
          </a:ln>
        </p:spPr>
        <p:txBody>
          <a:bodyPr/>
          <a:lstStyle/>
          <a:p>
            <a:endParaRPr lang="en-US"/>
          </a:p>
        </p:txBody>
      </p:sp>
      <p:sp>
        <p:nvSpPr>
          <p:cNvPr id="22" name="Text 20"/>
          <p:cNvSpPr txBox="1"/>
          <p:nvPr/>
        </p:nvSpPr>
        <p:spPr>
          <a:xfrm>
            <a:off x="731520" y="4480560"/>
            <a:ext cx="4572000" cy="274320"/>
          </a:xfrm>
          <a:prstGeom prst="rect">
            <a:avLst/>
          </a:prstGeom>
          <a:noFill/>
          <a:ln/>
        </p:spPr>
        <p:txBody>
          <a:bodyPr wrap="square" lIns="0" tIns="0" rIns="0" bIns="0" rtlCol="0" anchor="ctr"/>
          <a:lstStyle/>
          <a:p>
            <a:pPr marL="0" indent="0">
              <a:buNone/>
            </a:pPr>
            <a:r>
              <a:rPr lang="en-US" sz="1100" b="1" kern="0" spc="200" dirty="0">
                <a:solidFill>
                  <a:srgbClr val="065A82"/>
                </a:solidFill>
                <a:latin typeface="Calibri" pitchFamily="34" charset="0"/>
                <a:ea typeface="Calibri" pitchFamily="34" charset="-122"/>
                <a:cs typeface="Calibri" pitchFamily="34" charset="-120"/>
              </a:rPr>
              <a:t>STUDY CONTRIBUTION</a:t>
            </a:r>
            <a:endParaRPr lang="en-US" sz="1100" dirty="0"/>
          </a:p>
        </p:txBody>
      </p:sp>
      <p:sp>
        <p:nvSpPr>
          <p:cNvPr id="23" name="Text 21"/>
          <p:cNvSpPr txBox="1"/>
          <p:nvPr/>
        </p:nvSpPr>
        <p:spPr>
          <a:xfrm>
            <a:off x="731520" y="4754880"/>
            <a:ext cx="10728655" cy="41148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HIGI + District Profiling + AI-Assisted Ranking</a:t>
            </a:r>
            <a:endParaRPr lang="en-US" sz="1900" dirty="0"/>
          </a:p>
        </p:txBody>
      </p:sp>
      <p:sp>
        <p:nvSpPr>
          <p:cNvPr id="24" name="Text 22"/>
          <p:cNvSpPr txBox="1"/>
          <p:nvPr/>
        </p:nvSpPr>
        <p:spPr>
          <a:xfrm>
            <a:off x="731520" y="5212080"/>
            <a:ext cx="10728655" cy="548640"/>
          </a:xfrm>
          <a:prstGeom prst="rect">
            <a:avLst/>
          </a:prstGeom>
          <a:noFill/>
          <a:ln/>
        </p:spPr>
        <p:txBody>
          <a:bodyPr wrap="square" lIns="0" tIns="0" rIns="0" bIns="0" rtlCol="0" anchor="ctr"/>
          <a:lstStyle/>
          <a:p>
            <a:pPr marL="0" indent="0">
              <a:lnSpc>
                <a:spcPct val="110000"/>
              </a:lnSpc>
              <a:buNone/>
            </a:pPr>
            <a:r>
              <a:rPr lang="en-US" sz="1250" i="1" dirty="0">
                <a:solidFill>
                  <a:srgbClr val="5B6B79"/>
                </a:solidFill>
                <a:latin typeface="Calibri" pitchFamily="34" charset="0"/>
                <a:ea typeface="Calibri" pitchFamily="34" charset="-122"/>
                <a:cs typeface="Calibri" pitchFamily="34" charset="-120"/>
              </a:rPr>
              <a:t>The study combines these three complementary perspectives to inform decisions — rather than replacing policy judgement.</a:t>
            </a:r>
            <a:endParaRPr lang="en-US" sz="1250" dirty="0"/>
          </a:p>
        </p:txBody>
      </p:sp>
      <p:sp>
        <p:nvSpPr>
          <p:cNvPr id="25" name="Text 23"/>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Healthcare Infrastructure Gap Index (HIGI)</a:t>
            </a:r>
            <a:endParaRPr lang="en-US" sz="900" dirty="0"/>
          </a:p>
        </p:txBody>
      </p:sp>
      <p:sp>
        <p:nvSpPr>
          <p:cNvPr id="26" name="Text 24"/>
          <p:cNvSpPr txBox="1"/>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a:solidFill>
                  <a:srgbClr val="21295C"/>
                </a:solidFill>
                <a:latin typeface="Cambria" pitchFamily="34" charset="0"/>
                <a:ea typeface="Cambria" pitchFamily="34" charset="-122"/>
                <a:cs typeface="Cambria" pitchFamily="34" charset="-120"/>
              </a:rPr>
              <a:t>Research Questions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853497585"/>
              </p:ext>
            </p:extLst>
          </p:nvPr>
        </p:nvGraphicFramePr>
        <p:xfrm>
          <a:off x="457200" y="1188720"/>
          <a:ext cx="11277295" cy="3572465"/>
        </p:xfrm>
        <a:graphic>
          <a:graphicData uri="http://schemas.openxmlformats.org/drawingml/2006/table">
            <a:tbl>
              <a:tblPr/>
              <a:tblGrid>
                <a:gridCol w="685967">
                  <a:extLst>
                    <a:ext uri="{9D8B030D-6E8A-4147-A177-3AD203B41FA5}">
                      <a16:colId xmlns:a16="http://schemas.microsoft.com/office/drawing/2014/main" val="20000"/>
                    </a:ext>
                  </a:extLst>
                </a:gridCol>
                <a:gridCol w="4207263">
                  <a:extLst>
                    <a:ext uri="{9D8B030D-6E8A-4147-A177-3AD203B41FA5}">
                      <a16:colId xmlns:a16="http://schemas.microsoft.com/office/drawing/2014/main" val="20001"/>
                    </a:ext>
                  </a:extLst>
                </a:gridCol>
                <a:gridCol w="3292641">
                  <a:extLst>
                    <a:ext uri="{9D8B030D-6E8A-4147-A177-3AD203B41FA5}">
                      <a16:colId xmlns:a16="http://schemas.microsoft.com/office/drawing/2014/main" val="20002"/>
                    </a:ext>
                  </a:extLst>
                </a:gridCol>
                <a:gridCol w="3091424">
                  <a:extLst>
                    <a:ext uri="{9D8B030D-6E8A-4147-A177-3AD203B41FA5}">
                      <a16:colId xmlns:a16="http://schemas.microsoft.com/office/drawing/2014/main" val="20003"/>
                    </a:ext>
                  </a:extLst>
                </a:gridCol>
              </a:tblGrid>
              <a:tr h="714493">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RQ</a:t>
                      </a:r>
                      <a:endParaRPr lang="en-US" sz="115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2129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Research Question</a:t>
                      </a:r>
                      <a:endParaRPr lang="en-US" sz="115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2129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2129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Key Result</a:t>
                      </a:r>
                      <a:endParaRPr lang="en-US" sz="115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714493">
                <a:tc>
                  <a:txBody>
                    <a:bodyPr/>
                    <a:lstStyle/>
                    <a:p>
                      <a:pPr marL="0" indent="0" algn="l">
                        <a:buNone/>
                      </a:pPr>
                      <a:r>
                        <a:rPr lang="en-US" sz="1100" b="1" dirty="0">
                          <a:solidFill>
                            <a:srgbClr val="1B2A3A"/>
                          </a:solidFill>
                          <a:latin typeface="Calibri" pitchFamily="34" charset="0"/>
                          <a:ea typeface="Calibri" pitchFamily="34" charset="-122"/>
                          <a:cs typeface="Calibri" pitchFamily="34" charset="-120"/>
                        </a:rPr>
                        <a:t>RQ1</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Can official district-level datasets be integrated to quantify infrastructure gaps?</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Data integration &amp; quality assessment</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488 districts × 18 variables</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4493">
                <a:tc>
                  <a:txBody>
                    <a:bodyPr/>
                    <a:lstStyle/>
                    <a:p>
                      <a:pPr marL="0" indent="0" algn="l">
                        <a:buNone/>
                      </a:pPr>
                      <a:r>
                        <a:rPr lang="en-US" sz="1100" b="1" dirty="0">
                          <a:solidFill>
                            <a:srgbClr val="1B2A3A"/>
                          </a:solidFill>
                          <a:latin typeface="Calibri" pitchFamily="34" charset="0"/>
                          <a:ea typeface="Calibri" pitchFamily="34" charset="-122"/>
                          <a:cs typeface="Calibri" pitchFamily="34" charset="-120"/>
                        </a:rPr>
                        <a:t>RQ2</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E8EFF3"/>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Can HIGI measure and compare relative infrastructure gaps?</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E8EFF3"/>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HIGI construction &amp; Spearman correlation</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E8EFF3"/>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HIGI: 0.0861–0.9765</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E8EFF3"/>
                    </a:solidFill>
                  </a:tcPr>
                </a:tc>
                <a:extLst>
                  <a:ext uri="{0D108BD9-81ED-4DB2-BD59-A6C34878D82A}">
                    <a16:rowId xmlns:a16="http://schemas.microsoft.com/office/drawing/2014/main" val="10002"/>
                  </a:ext>
                </a:extLst>
              </a:tr>
              <a:tr h="714493">
                <a:tc>
                  <a:txBody>
                    <a:bodyPr/>
                    <a:lstStyle/>
                    <a:p>
                      <a:pPr marL="0" indent="0" algn="l">
                        <a:buNone/>
                      </a:pPr>
                      <a:r>
                        <a:rPr lang="en-US" sz="1100" b="1" dirty="0">
                          <a:solidFill>
                            <a:srgbClr val="1B2A3A"/>
                          </a:solidFill>
                          <a:latin typeface="Calibri" pitchFamily="34" charset="0"/>
                          <a:ea typeface="Calibri" pitchFamily="34" charset="-122"/>
                          <a:cs typeface="Calibri" pitchFamily="34" charset="-120"/>
                        </a:rPr>
                        <a:t>RQ3</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Can ML identify meaningful district patterns?</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K-Means clustering &amp; validation</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3 district profiles</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4493">
                <a:tc>
                  <a:txBody>
                    <a:bodyPr/>
                    <a:lstStyle/>
                    <a:p>
                      <a:pPr marL="0" indent="0" algn="l">
                        <a:buNone/>
                      </a:pPr>
                      <a:r>
                        <a:rPr lang="en-US" sz="1100" b="1" dirty="0">
                          <a:solidFill>
                            <a:srgbClr val="1B2A3A"/>
                          </a:solidFill>
                          <a:latin typeface="Calibri" pitchFamily="34" charset="0"/>
                          <a:ea typeface="Calibri" pitchFamily="34" charset="-122"/>
                          <a:cs typeface="Calibri" pitchFamily="34" charset="-120"/>
                        </a:rPr>
                        <a:t>RQ4</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E8EFF3"/>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Can AI-assisted prioritization provide a complementary perspective?</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E8EFF3"/>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Random Forest + OOF predictions + ranking comparison</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E8EFF3"/>
                    </a:solidFill>
                  </a:tcPr>
                </a:tc>
                <a:tc>
                  <a:txBody>
                    <a:bodyPr/>
                    <a:lstStyle/>
                    <a:p>
                      <a:pPr marL="0" indent="0" algn="l">
                        <a:buNone/>
                      </a:pPr>
                      <a:r>
                        <a:rPr lang="en-US" sz="1100" dirty="0">
                          <a:solidFill>
                            <a:srgbClr val="1B2A3A"/>
                          </a:solidFill>
                          <a:latin typeface="Calibri" pitchFamily="34" charset="0"/>
                          <a:ea typeface="Calibri" pitchFamily="34" charset="-122"/>
                          <a:cs typeface="Calibri" pitchFamily="34" charset="-120"/>
                        </a:rPr>
                        <a:t>ρ = 0.653; Top-20 overlap = 10%</a:t>
                      </a:r>
                      <a:endParaRPr lang="en-US" sz="1100" dirty="0">
                        <a:latin typeface="Calibri" charset="0"/>
                        <a:ea typeface="Calibri" charset="0"/>
                        <a:cs typeface="Calibri" charset="0"/>
                      </a:endParaRPr>
                    </a:p>
                  </a:txBody>
                  <a:tcPr anchor="ctr">
                    <a:lnL w="9525" cap="flat" cmpd="sng" algn="ctr">
                      <a:solidFill>
                        <a:srgbClr val="D6DFE6"/>
                      </a:solidFill>
                      <a:prstDash val="solid"/>
                      <a:round/>
                      <a:headEnd type="none" w="med" len="med"/>
                      <a:tailEnd type="none" w="med" len="med"/>
                    </a:lnL>
                    <a:lnR w="9525" cap="flat" cmpd="sng" algn="ctr">
                      <a:solidFill>
                        <a:srgbClr val="D6DFE6"/>
                      </a:solidFill>
                      <a:prstDash val="solid"/>
                      <a:round/>
                      <a:headEnd type="none" w="med" len="med"/>
                      <a:tailEnd type="none" w="med" len="med"/>
                    </a:lnR>
                    <a:lnT w="9525" cap="flat" cmpd="sng" algn="ctr">
                      <a:solidFill>
                        <a:srgbClr val="D6DFE6"/>
                      </a:solidFill>
                      <a:prstDash val="solid"/>
                      <a:round/>
                      <a:headEnd type="none" w="med" len="med"/>
                      <a:tailEnd type="none" w="med" len="med"/>
                    </a:lnT>
                    <a:lnB w="9525" cap="flat" cmpd="sng" algn="ctr">
                      <a:solidFill>
                        <a:srgbClr val="D6DFE6"/>
                      </a:solidFill>
                      <a:prstDash val="solid"/>
                      <a:round/>
                      <a:headEnd type="none" w="med" len="med"/>
                      <a:tailEnd type="none" w="med" len="med"/>
                    </a:lnB>
                    <a:solidFill>
                      <a:srgbClr val="E8EFF3"/>
                    </a:solidFill>
                  </a:tcPr>
                </a:tc>
                <a:extLst>
                  <a:ext uri="{0D108BD9-81ED-4DB2-BD59-A6C34878D82A}">
                    <a16:rowId xmlns:a16="http://schemas.microsoft.com/office/drawing/2014/main" val="10004"/>
                  </a:ext>
                </a:extLst>
              </a:tr>
            </a:tbl>
          </a:graphicData>
        </a:graphic>
      </p:graphicFrame>
      <p:sp>
        <p:nvSpPr>
          <p:cNvPr id="8" name="Shape 5"/>
          <p:cNvSpPr/>
          <p:nvPr/>
        </p:nvSpPr>
        <p:spPr>
          <a:xfrm>
            <a:off x="457200" y="5486400"/>
            <a:ext cx="11277295" cy="777240"/>
          </a:xfrm>
          <a:prstGeom prst="roundRect">
            <a:avLst>
              <a:gd name="adj" fmla="val 9412"/>
            </a:avLst>
          </a:prstGeom>
          <a:solidFill>
            <a:srgbClr val="21295C"/>
          </a:solidFill>
          <a:ln/>
        </p:spPr>
        <p:txBody>
          <a:bodyPr/>
          <a:lstStyle/>
          <a:p>
            <a:endParaRPr lang="en-US"/>
          </a:p>
        </p:txBody>
      </p:sp>
      <p:sp>
        <p:nvSpPr>
          <p:cNvPr id="9" name="Text 6"/>
          <p:cNvSpPr txBox="1"/>
          <p:nvPr/>
        </p:nvSpPr>
        <p:spPr>
          <a:xfrm>
            <a:off x="731520" y="5486400"/>
            <a:ext cx="10728655" cy="777240"/>
          </a:xfrm>
          <a:prstGeom prst="rect">
            <a:avLst/>
          </a:prstGeom>
          <a:noFill/>
          <a:ln/>
        </p:spPr>
        <p:txBody>
          <a:bodyPr wrap="square" lIns="0" tIns="0" rIns="0" bIns="0"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Four analytical questions → measurement → district profiling → AI-assisted prioritization</a:t>
            </a:r>
            <a:endParaRPr lang="en-US" sz="1350" dirty="0"/>
          </a:p>
        </p:txBody>
      </p:sp>
      <p:sp>
        <p:nvSpPr>
          <p:cNvPr id="10" name="Text 7"/>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Healthcare Infrastructure Gap Index (HIGI)</a:t>
            </a:r>
            <a:endParaRPr lang="en-US" sz="900" dirty="0"/>
          </a:p>
        </p:txBody>
      </p:sp>
      <p:sp>
        <p:nvSpPr>
          <p:cNvPr id="11" name="Text 8"/>
          <p:cNvSpPr txBox="1"/>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57" name="Shape 12">
            <a:extLst>
              <a:ext uri="{FF2B5EF4-FFF2-40B4-BE49-F238E27FC236}">
                <a16:creationId xmlns:a16="http://schemas.microsoft.com/office/drawing/2014/main" id="{35B6CAE7-784C-6057-41EF-F454CC9A6B8F}"/>
              </a:ext>
            </a:extLst>
          </p:cNvPr>
          <p:cNvSpPr/>
          <p:nvPr/>
        </p:nvSpPr>
        <p:spPr>
          <a:xfrm>
            <a:off x="6095847" y="1874520"/>
            <a:ext cx="5501488" cy="3063240"/>
          </a:xfrm>
          <a:prstGeom prst="roundRect">
            <a:avLst>
              <a:gd name="adj" fmla="val 1791"/>
            </a:avLst>
          </a:prstGeom>
          <a:solidFill>
            <a:srgbClr val="FFFFFF"/>
          </a:solidFill>
          <a:ln w="12700">
            <a:solidFill>
              <a:srgbClr val="D6DFE6"/>
            </a:solidFill>
            <a:prstDash val="solid"/>
          </a:ln>
        </p:spPr>
        <p:txBody>
          <a:bodyPr/>
          <a:lstStyle/>
          <a:p>
            <a:endParaRPr lang="en-US"/>
          </a:p>
        </p:txBody>
      </p:sp>
      <p:sp>
        <p:nvSpPr>
          <p:cNvPr id="2" name="Text 0"/>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Data Description </a:t>
            </a:r>
            <a:r>
              <a:rPr lang="en-US" sz="3000" b="1">
                <a:solidFill>
                  <a:srgbClr val="21295C"/>
                </a:solidFill>
                <a:latin typeface="Cambria" pitchFamily="34" charset="0"/>
                <a:ea typeface="Cambria" pitchFamily="34" charset="-122"/>
                <a:cs typeface="Cambria" pitchFamily="34" charset="-120"/>
              </a:rPr>
              <a:t>&amp; EDA</a:t>
            </a:r>
            <a:endParaRPr lang="en-US" sz="3000" dirty="0"/>
          </a:p>
        </p:txBody>
      </p:sp>
      <p:sp>
        <p:nvSpPr>
          <p:cNvPr id="3" name="Shape 1"/>
          <p:cNvSpPr/>
          <p:nvPr/>
        </p:nvSpPr>
        <p:spPr>
          <a:xfrm>
            <a:off x="457200" y="1115568"/>
            <a:ext cx="2331720" cy="566928"/>
          </a:xfrm>
          <a:prstGeom prst="roundRect">
            <a:avLst>
              <a:gd name="adj" fmla="val 9677"/>
            </a:avLst>
          </a:prstGeom>
          <a:solidFill>
            <a:srgbClr val="065A82"/>
          </a:solidFill>
          <a:ln/>
        </p:spPr>
        <p:txBody>
          <a:bodyPr/>
          <a:lstStyle/>
          <a:p>
            <a:endParaRPr lang="en-US"/>
          </a:p>
        </p:txBody>
      </p:sp>
      <p:sp>
        <p:nvSpPr>
          <p:cNvPr id="4" name="Text 2"/>
          <p:cNvSpPr txBox="1"/>
          <p:nvPr/>
        </p:nvSpPr>
        <p:spPr>
          <a:xfrm>
            <a:off x="594360" y="1170432"/>
            <a:ext cx="2057400" cy="256032"/>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RHS</a:t>
            </a:r>
            <a:endParaRPr lang="en-US" sz="1250" dirty="0"/>
          </a:p>
        </p:txBody>
      </p:sp>
      <p:sp>
        <p:nvSpPr>
          <p:cNvPr id="5" name="Text 3"/>
          <p:cNvSpPr txBox="1"/>
          <p:nvPr/>
        </p:nvSpPr>
        <p:spPr>
          <a:xfrm>
            <a:off x="594360" y="1408176"/>
            <a:ext cx="2057400" cy="256032"/>
          </a:xfrm>
          <a:prstGeom prst="rect">
            <a:avLst/>
          </a:prstGeom>
          <a:noFill/>
          <a:ln/>
        </p:spPr>
        <p:txBody>
          <a:bodyPr wrap="square" lIns="0" tIns="0" rIns="0" bIns="0" rtlCol="0" anchor="ctr"/>
          <a:lstStyle/>
          <a:p>
            <a:pPr marL="0" indent="0">
              <a:lnSpc>
                <a:spcPct val="100000"/>
              </a:lnSpc>
              <a:buNone/>
            </a:pPr>
            <a:r>
              <a:rPr lang="en-US" sz="900" dirty="0">
                <a:solidFill>
                  <a:srgbClr val="E4EAF3"/>
                </a:solidFill>
                <a:latin typeface="Calibri" pitchFamily="34" charset="0"/>
                <a:ea typeface="Calibri" pitchFamily="34" charset="-122"/>
                <a:cs typeface="Calibri" pitchFamily="34" charset="-120"/>
              </a:rPr>
              <a:t>5 healthcare infrastructure indicators</a:t>
            </a:r>
            <a:endParaRPr lang="en-US" sz="900" dirty="0"/>
          </a:p>
        </p:txBody>
      </p:sp>
      <p:sp>
        <p:nvSpPr>
          <p:cNvPr id="6" name="Shape 4"/>
          <p:cNvSpPr/>
          <p:nvPr/>
        </p:nvSpPr>
        <p:spPr>
          <a:xfrm>
            <a:off x="2953512" y="1115568"/>
            <a:ext cx="2331720" cy="566928"/>
          </a:xfrm>
          <a:prstGeom prst="roundRect">
            <a:avLst>
              <a:gd name="adj" fmla="val 9677"/>
            </a:avLst>
          </a:prstGeom>
          <a:solidFill>
            <a:srgbClr val="1C7293"/>
          </a:solidFill>
          <a:ln/>
        </p:spPr>
        <p:txBody>
          <a:bodyPr/>
          <a:lstStyle/>
          <a:p>
            <a:endParaRPr lang="en-US"/>
          </a:p>
        </p:txBody>
      </p:sp>
      <p:sp>
        <p:nvSpPr>
          <p:cNvPr id="7" name="Text 5"/>
          <p:cNvSpPr txBox="1"/>
          <p:nvPr/>
        </p:nvSpPr>
        <p:spPr>
          <a:xfrm>
            <a:off x="3090672" y="1170432"/>
            <a:ext cx="2057400" cy="256032"/>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Census 2011</a:t>
            </a:r>
            <a:endParaRPr lang="en-US" sz="1250" dirty="0"/>
          </a:p>
        </p:txBody>
      </p:sp>
      <p:sp>
        <p:nvSpPr>
          <p:cNvPr id="8" name="Text 6"/>
          <p:cNvSpPr txBox="1"/>
          <p:nvPr/>
        </p:nvSpPr>
        <p:spPr>
          <a:xfrm>
            <a:off x="3090672" y="1408176"/>
            <a:ext cx="2057400" cy="256032"/>
          </a:xfrm>
          <a:prstGeom prst="rect">
            <a:avLst/>
          </a:prstGeom>
          <a:noFill/>
          <a:ln/>
        </p:spPr>
        <p:txBody>
          <a:bodyPr wrap="square" lIns="0" tIns="0" rIns="0" bIns="0" rtlCol="0" anchor="ctr"/>
          <a:lstStyle/>
          <a:p>
            <a:pPr marL="0" indent="0">
              <a:lnSpc>
                <a:spcPct val="100000"/>
              </a:lnSpc>
              <a:buNone/>
            </a:pPr>
            <a:r>
              <a:rPr lang="en-US" sz="900" dirty="0">
                <a:solidFill>
                  <a:srgbClr val="E4EAF3"/>
                </a:solidFill>
                <a:latin typeface="Calibri" pitchFamily="34" charset="0"/>
                <a:ea typeface="Calibri" pitchFamily="34" charset="-122"/>
                <a:cs typeface="Calibri" pitchFamily="34" charset="-120"/>
              </a:rPr>
              <a:t>4 demographic indicators</a:t>
            </a:r>
            <a:endParaRPr lang="en-US" sz="900" dirty="0"/>
          </a:p>
        </p:txBody>
      </p:sp>
      <p:sp>
        <p:nvSpPr>
          <p:cNvPr id="9" name="Shape 7"/>
          <p:cNvSpPr/>
          <p:nvPr/>
        </p:nvSpPr>
        <p:spPr>
          <a:xfrm>
            <a:off x="5449824" y="1115568"/>
            <a:ext cx="2331720" cy="566928"/>
          </a:xfrm>
          <a:prstGeom prst="roundRect">
            <a:avLst>
              <a:gd name="adj" fmla="val 9677"/>
            </a:avLst>
          </a:prstGeom>
          <a:solidFill>
            <a:srgbClr val="3A7CA5"/>
          </a:solidFill>
          <a:ln/>
        </p:spPr>
        <p:txBody>
          <a:bodyPr/>
          <a:lstStyle/>
          <a:p>
            <a:endParaRPr lang="en-US"/>
          </a:p>
        </p:txBody>
      </p:sp>
      <p:sp>
        <p:nvSpPr>
          <p:cNvPr id="10" name="Text 8"/>
          <p:cNvSpPr txBox="1"/>
          <p:nvPr/>
        </p:nvSpPr>
        <p:spPr>
          <a:xfrm>
            <a:off x="5586984" y="1170432"/>
            <a:ext cx="2057400" cy="256032"/>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NFHS-5</a:t>
            </a:r>
            <a:endParaRPr lang="en-US" sz="1250" dirty="0"/>
          </a:p>
        </p:txBody>
      </p:sp>
      <p:sp>
        <p:nvSpPr>
          <p:cNvPr id="11" name="Text 9"/>
          <p:cNvSpPr txBox="1"/>
          <p:nvPr/>
        </p:nvSpPr>
        <p:spPr>
          <a:xfrm>
            <a:off x="5586984" y="1408176"/>
            <a:ext cx="2057400" cy="256032"/>
          </a:xfrm>
          <a:prstGeom prst="rect">
            <a:avLst/>
          </a:prstGeom>
          <a:noFill/>
          <a:ln/>
        </p:spPr>
        <p:txBody>
          <a:bodyPr wrap="square" lIns="0" tIns="0" rIns="0" bIns="0" rtlCol="0" anchor="ctr"/>
          <a:lstStyle/>
          <a:p>
            <a:pPr marL="0" indent="0">
              <a:lnSpc>
                <a:spcPct val="100000"/>
              </a:lnSpc>
              <a:buNone/>
            </a:pPr>
            <a:r>
              <a:rPr lang="en-US" sz="900" dirty="0">
                <a:solidFill>
                  <a:srgbClr val="E4EAF3"/>
                </a:solidFill>
                <a:latin typeface="Calibri" pitchFamily="34" charset="0"/>
                <a:ea typeface="Calibri" pitchFamily="34" charset="-122"/>
                <a:cs typeface="Calibri" pitchFamily="34" charset="-120"/>
              </a:rPr>
              <a:t>7 health indicators</a:t>
            </a:r>
            <a:endParaRPr lang="en-US" sz="900" dirty="0"/>
          </a:p>
        </p:txBody>
      </p:sp>
      <p:sp>
        <p:nvSpPr>
          <p:cNvPr id="12" name="Shape 10"/>
          <p:cNvSpPr/>
          <p:nvPr/>
        </p:nvSpPr>
        <p:spPr>
          <a:xfrm>
            <a:off x="8010144" y="1115568"/>
            <a:ext cx="3724351" cy="566928"/>
          </a:xfrm>
          <a:prstGeom prst="roundRect">
            <a:avLst>
              <a:gd name="adj" fmla="val 9677"/>
            </a:avLst>
          </a:prstGeom>
          <a:solidFill>
            <a:srgbClr val="21295C"/>
          </a:solidFill>
          <a:ln/>
        </p:spPr>
        <p:txBody>
          <a:bodyPr/>
          <a:lstStyle/>
          <a:p>
            <a:endParaRPr lang="en-US"/>
          </a:p>
        </p:txBody>
      </p:sp>
      <p:sp>
        <p:nvSpPr>
          <p:cNvPr id="13" name="Text 11"/>
          <p:cNvSpPr txBox="1"/>
          <p:nvPr/>
        </p:nvSpPr>
        <p:spPr>
          <a:xfrm>
            <a:off x="8010144" y="1161288"/>
            <a:ext cx="3724351" cy="475488"/>
          </a:xfrm>
          <a:prstGeom prst="rect">
            <a:avLst/>
          </a:prstGeom>
          <a:noFill/>
          <a:ln/>
        </p:spPr>
        <p:txBody>
          <a:bodyPr wrap="square" lIns="0" tIns="0" rIns="0" bIns="0" rtlCol="0" anchor="ctr"/>
          <a:lstStyle/>
          <a:p>
            <a:pPr marL="0" indent="0" algn="ctr">
              <a:lnSpc>
                <a:spcPct val="105000"/>
              </a:lnSpc>
              <a:buNone/>
            </a:pPr>
            <a:r>
              <a:rPr lang="en-US" sz="2000" b="1" dirty="0">
                <a:solidFill>
                  <a:srgbClr val="FFFFFF"/>
                </a:solidFill>
                <a:latin typeface="Cambria" pitchFamily="34" charset="0"/>
                <a:ea typeface="Cambria" pitchFamily="34" charset="-122"/>
                <a:cs typeface="Cambria" pitchFamily="34" charset="-120"/>
              </a:rPr>
              <a:t>488 × 18</a:t>
            </a:r>
            <a:endParaRPr lang="en-US" sz="2000" dirty="0"/>
          </a:p>
          <a:p>
            <a:pPr marL="0" indent="0" algn="ctr">
              <a:lnSpc>
                <a:spcPct val="105000"/>
              </a:lnSpc>
              <a:buNone/>
            </a:pPr>
            <a:r>
              <a:rPr lang="en-US" sz="900" dirty="0">
                <a:solidFill>
                  <a:srgbClr val="CADCFC"/>
                </a:solidFill>
                <a:latin typeface="Calibri" pitchFamily="34" charset="0"/>
                <a:ea typeface="Calibri" pitchFamily="34" charset="-122"/>
                <a:cs typeface="Calibri" pitchFamily="34" charset="-120"/>
              </a:rPr>
              <a:t>Districts × Variables</a:t>
            </a:r>
            <a:endParaRPr lang="en-US" sz="2000" dirty="0"/>
          </a:p>
        </p:txBody>
      </p:sp>
      <p:sp>
        <p:nvSpPr>
          <p:cNvPr id="14" name="Shape 12"/>
          <p:cNvSpPr/>
          <p:nvPr/>
        </p:nvSpPr>
        <p:spPr>
          <a:xfrm>
            <a:off x="457200" y="1874520"/>
            <a:ext cx="5501488" cy="3063240"/>
          </a:xfrm>
          <a:prstGeom prst="roundRect">
            <a:avLst>
              <a:gd name="adj" fmla="val 1791"/>
            </a:avLst>
          </a:prstGeom>
          <a:solidFill>
            <a:srgbClr val="FFFFFF"/>
          </a:solidFill>
          <a:ln w="12700">
            <a:solidFill>
              <a:srgbClr val="D6DFE6"/>
            </a:solidFill>
            <a:prstDash val="solid"/>
          </a:ln>
        </p:spPr>
        <p:txBody>
          <a:bodyPr/>
          <a:lstStyle/>
          <a:p>
            <a:endParaRPr lang="en-US"/>
          </a:p>
        </p:txBody>
      </p:sp>
      <p:sp>
        <p:nvSpPr>
          <p:cNvPr id="15" name="Text 13"/>
          <p:cNvSpPr txBox="1"/>
          <p:nvPr/>
        </p:nvSpPr>
        <p:spPr>
          <a:xfrm>
            <a:off x="1419749" y="1938528"/>
            <a:ext cx="3583060" cy="365760"/>
          </a:xfrm>
          <a:prstGeom prst="rect">
            <a:avLst/>
          </a:prstGeom>
          <a:noFill/>
          <a:ln/>
        </p:spPr>
        <p:txBody>
          <a:bodyPr wrap="square" lIns="0" tIns="0" rIns="0" bIns="0" rtlCol="0" anchor="ctr"/>
          <a:lstStyle/>
          <a:p>
            <a:pPr marL="0" indent="0">
              <a:lnSpc>
                <a:spcPct val="105000"/>
              </a:lnSpc>
              <a:buNone/>
            </a:pPr>
            <a:r>
              <a:rPr lang="en-US" sz="1200" b="1">
                <a:solidFill>
                  <a:srgbClr val="21295C"/>
                </a:solidFill>
                <a:latin typeface="Cambria" pitchFamily="34" charset="0"/>
                <a:ea typeface="Cambria" pitchFamily="34" charset="-122"/>
                <a:cs typeface="Cambria" pitchFamily="34" charset="-120"/>
              </a:rPr>
              <a:t>Distribution </a:t>
            </a:r>
            <a:r>
              <a:rPr lang="en-US" sz="1200" b="1" dirty="0">
                <a:solidFill>
                  <a:srgbClr val="21295C"/>
                </a:solidFill>
                <a:latin typeface="Cambria" pitchFamily="34" charset="0"/>
                <a:ea typeface="Cambria" pitchFamily="34" charset="-122"/>
                <a:cs typeface="Cambria" pitchFamily="34" charset="-120"/>
              </a:rPr>
              <a:t>of Healthcare Infrastructure Variables</a:t>
            </a:r>
            <a:endParaRPr lang="en-US" sz="1200" dirty="0"/>
          </a:p>
        </p:txBody>
      </p:sp>
      <p:sp>
        <p:nvSpPr>
          <p:cNvPr id="17" name="Text 14"/>
          <p:cNvSpPr txBox="1"/>
          <p:nvPr/>
        </p:nvSpPr>
        <p:spPr>
          <a:xfrm>
            <a:off x="685800" y="4206240"/>
            <a:ext cx="5044288" cy="685800"/>
          </a:xfrm>
          <a:prstGeom prst="rect">
            <a:avLst/>
          </a:prstGeom>
          <a:noFill/>
          <a:ln/>
        </p:spPr>
        <p:txBody>
          <a:bodyPr wrap="square" lIns="0" tIns="0" rIns="0" bIns="0" rtlCol="0" anchor="ctr"/>
          <a:lstStyle/>
          <a:p>
            <a:pPr marL="0" indent="0">
              <a:lnSpc>
                <a:spcPct val="115000"/>
              </a:lnSpc>
              <a:buNone/>
            </a:pPr>
            <a:r>
              <a:rPr lang="en-US" sz="1050" i="1" dirty="0">
                <a:solidFill>
                  <a:srgbClr val="1B2A3A"/>
                </a:solidFill>
                <a:latin typeface="Calibri" pitchFamily="34" charset="0"/>
                <a:ea typeface="Calibri" pitchFamily="34" charset="-122"/>
                <a:cs typeface="Calibri" pitchFamily="34" charset="-120"/>
              </a:rPr>
              <a:t>Infrastructure availability varies substantially across districts, with positively skewed distributions across </a:t>
            </a:r>
            <a:r>
              <a:rPr lang="en-US" sz="1050" i="1">
                <a:solidFill>
                  <a:srgbClr val="1B2A3A"/>
                </a:solidFill>
                <a:latin typeface="Calibri" pitchFamily="34" charset="0"/>
                <a:ea typeface="Calibri" pitchFamily="34" charset="-122"/>
                <a:cs typeface="Calibri" pitchFamily="34" charset="-120"/>
              </a:rPr>
              <a:t>facility types.</a:t>
            </a:r>
            <a:endParaRPr lang="en-US" sz="1050" dirty="0"/>
          </a:p>
        </p:txBody>
      </p:sp>
      <p:sp>
        <p:nvSpPr>
          <p:cNvPr id="19" name="Text 16"/>
          <p:cNvSpPr txBox="1"/>
          <p:nvPr/>
        </p:nvSpPr>
        <p:spPr>
          <a:xfrm>
            <a:off x="8070258" y="1939368"/>
            <a:ext cx="1365656" cy="365760"/>
          </a:xfrm>
          <a:prstGeom prst="rect">
            <a:avLst/>
          </a:prstGeom>
          <a:noFill/>
          <a:ln/>
        </p:spPr>
        <p:txBody>
          <a:bodyPr wrap="square" lIns="0" tIns="0" rIns="0" bIns="0" rtlCol="0" anchor="ctr"/>
          <a:lstStyle/>
          <a:p>
            <a:pPr marL="0" indent="0">
              <a:lnSpc>
                <a:spcPct val="105000"/>
              </a:lnSpc>
              <a:buNone/>
            </a:pPr>
            <a:r>
              <a:rPr lang="en-US" sz="1200" b="1">
                <a:solidFill>
                  <a:srgbClr val="21295C"/>
                </a:solidFill>
                <a:latin typeface="Cambria" pitchFamily="34" charset="0"/>
                <a:ea typeface="Cambria" pitchFamily="34" charset="-122"/>
                <a:cs typeface="Cambria" pitchFamily="34" charset="-120"/>
              </a:rPr>
              <a:t>Correlation Matrix</a:t>
            </a:r>
            <a:endParaRPr lang="en-US" sz="1200" dirty="0"/>
          </a:p>
        </p:txBody>
      </p:sp>
      <p:sp>
        <p:nvSpPr>
          <p:cNvPr id="44" name="Text 41"/>
          <p:cNvSpPr txBox="1"/>
          <p:nvPr/>
        </p:nvSpPr>
        <p:spPr>
          <a:xfrm>
            <a:off x="6415888" y="4206240"/>
            <a:ext cx="5135728" cy="228600"/>
          </a:xfrm>
          <a:prstGeom prst="rect">
            <a:avLst/>
          </a:prstGeom>
          <a:noFill/>
          <a:ln/>
        </p:spPr>
        <p:txBody>
          <a:bodyPr wrap="square" lIns="0" tIns="0" rIns="0" bIns="0" rtlCol="0" anchor="ctr"/>
          <a:lstStyle/>
          <a:p>
            <a:pPr marL="0" indent="0">
              <a:buNone/>
            </a:pPr>
            <a:r>
              <a:rPr lang="en-US" sz="850" i="1" dirty="0">
                <a:solidFill>
                  <a:srgbClr val="5B6B79"/>
                </a:solidFill>
                <a:latin typeface="Calibri" pitchFamily="34" charset="0"/>
                <a:ea typeface="Calibri" pitchFamily="34" charset="-122"/>
                <a:cs typeface="Calibri" pitchFamily="34" charset="-120"/>
              </a:rPr>
              <a:t>Shading reflects relative </a:t>
            </a:r>
            <a:r>
              <a:rPr lang="en-US" sz="850" i="1">
                <a:solidFill>
                  <a:srgbClr val="5B6B79"/>
                </a:solidFill>
                <a:latin typeface="Calibri" pitchFamily="34" charset="0"/>
                <a:ea typeface="Calibri" pitchFamily="34" charset="-122"/>
                <a:cs typeface="Calibri" pitchFamily="34" charset="-120"/>
              </a:rPr>
              <a:t>association strength.</a:t>
            </a:r>
            <a:endParaRPr lang="en-US" sz="850" dirty="0"/>
          </a:p>
        </p:txBody>
      </p:sp>
      <p:sp>
        <p:nvSpPr>
          <p:cNvPr id="45" name="Text 42"/>
          <p:cNvSpPr txBox="1"/>
          <p:nvPr/>
        </p:nvSpPr>
        <p:spPr>
          <a:xfrm>
            <a:off x="6415888" y="4389120"/>
            <a:ext cx="5135728" cy="502920"/>
          </a:xfrm>
          <a:prstGeom prst="rect">
            <a:avLst/>
          </a:prstGeom>
          <a:noFill/>
          <a:ln/>
        </p:spPr>
        <p:txBody>
          <a:bodyPr wrap="square" lIns="0" tIns="0" rIns="0" bIns="0" rtlCol="0" anchor="ctr"/>
          <a:lstStyle/>
          <a:p>
            <a:pPr marL="0" indent="0">
              <a:lnSpc>
                <a:spcPct val="115000"/>
              </a:lnSpc>
              <a:buNone/>
            </a:pPr>
            <a:r>
              <a:rPr lang="en-US" sz="1000" dirty="0">
                <a:solidFill>
                  <a:srgbClr val="1B2A3A"/>
                </a:solidFill>
                <a:latin typeface="Calibri" pitchFamily="34" charset="0"/>
                <a:ea typeface="Calibri" pitchFamily="34" charset="-122"/>
                <a:cs typeface="Calibri" pitchFamily="34" charset="-120"/>
              </a:rPr>
              <a:t>Infrastructure variables show strong internal relationships and meaningful associations with demographic and health indicators. </a:t>
            </a:r>
            <a:r>
              <a:rPr lang="en-US" sz="1000" i="1" dirty="0">
                <a:solidFill>
                  <a:srgbClr val="1C7293"/>
                </a:solidFill>
                <a:latin typeface="Calibri" pitchFamily="34" charset="0"/>
                <a:ea typeface="Calibri" pitchFamily="34" charset="-122"/>
                <a:cs typeface="Calibri" pitchFamily="34" charset="-120"/>
              </a:rPr>
              <a:t>HIGI ↔ Health Insurance: ρ = −0.348 (moderate negative association).</a:t>
            </a:r>
            <a:endParaRPr lang="en-US" sz="1000" dirty="0"/>
          </a:p>
        </p:txBody>
      </p:sp>
      <p:sp>
        <p:nvSpPr>
          <p:cNvPr id="46" name="Shape 43"/>
          <p:cNvSpPr/>
          <p:nvPr/>
        </p:nvSpPr>
        <p:spPr>
          <a:xfrm>
            <a:off x="457200" y="5120640"/>
            <a:ext cx="11277295" cy="658368"/>
          </a:xfrm>
          <a:prstGeom prst="roundRect">
            <a:avLst>
              <a:gd name="adj" fmla="val 8333"/>
            </a:avLst>
          </a:prstGeom>
          <a:solidFill>
            <a:srgbClr val="E8EFF3"/>
          </a:solidFill>
          <a:ln/>
        </p:spPr>
        <p:txBody>
          <a:bodyPr/>
          <a:lstStyle/>
          <a:p>
            <a:endParaRPr lang="en-US"/>
          </a:p>
        </p:txBody>
      </p:sp>
      <p:sp>
        <p:nvSpPr>
          <p:cNvPr id="47" name="Text 44"/>
          <p:cNvSpPr txBox="1"/>
          <p:nvPr/>
        </p:nvSpPr>
        <p:spPr>
          <a:xfrm>
            <a:off x="685800" y="5193792"/>
            <a:ext cx="1828800" cy="228600"/>
          </a:xfrm>
          <a:prstGeom prst="rect">
            <a:avLst/>
          </a:prstGeom>
          <a:noFill/>
          <a:ln/>
        </p:spPr>
        <p:txBody>
          <a:bodyPr wrap="square" lIns="0" tIns="0" rIns="0" bIns="0" rtlCol="0" anchor="ctr"/>
          <a:lstStyle/>
          <a:p>
            <a:pPr marL="0" indent="0">
              <a:buNone/>
            </a:pPr>
            <a:r>
              <a:rPr lang="en-US" sz="950" b="1" kern="0" spc="150" dirty="0">
                <a:solidFill>
                  <a:srgbClr val="065A82"/>
                </a:solidFill>
                <a:latin typeface="Calibri" pitchFamily="34" charset="0"/>
                <a:ea typeface="Calibri" pitchFamily="34" charset="-122"/>
                <a:cs typeface="Calibri" pitchFamily="34" charset="-120"/>
              </a:rPr>
              <a:t>DATA QUALITY</a:t>
            </a:r>
            <a:endParaRPr lang="en-US" sz="950" dirty="0"/>
          </a:p>
        </p:txBody>
      </p:sp>
      <p:sp>
        <p:nvSpPr>
          <p:cNvPr id="48" name="Text 45"/>
          <p:cNvSpPr txBox="1"/>
          <p:nvPr/>
        </p:nvSpPr>
        <p:spPr>
          <a:xfrm>
            <a:off x="685800" y="5413248"/>
            <a:ext cx="2377440" cy="32004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11 missing observations</a:t>
            </a:r>
            <a:endParaRPr lang="en-US" sz="1400" dirty="0"/>
          </a:p>
        </p:txBody>
      </p:sp>
      <p:sp>
        <p:nvSpPr>
          <p:cNvPr id="49" name="Text 46"/>
          <p:cNvSpPr txBox="1"/>
          <p:nvPr/>
        </p:nvSpPr>
        <p:spPr>
          <a:xfrm>
            <a:off x="3200400" y="5413248"/>
            <a:ext cx="4846320" cy="320040"/>
          </a:xfrm>
          <a:prstGeom prst="rect">
            <a:avLst/>
          </a:prstGeom>
          <a:noFill/>
          <a:ln/>
        </p:spPr>
        <p:txBody>
          <a:bodyPr wrap="square" lIns="0" tIns="0" rIns="0" bIns="0" rtlCol="0" anchor="ctr"/>
          <a:lstStyle/>
          <a:p>
            <a:pPr marL="0" indent="0">
              <a:buNone/>
            </a:pPr>
            <a:r>
              <a:rPr lang="en-US" sz="1100" dirty="0">
                <a:solidFill>
                  <a:srgbClr val="1B2A3A"/>
                </a:solidFill>
                <a:latin typeface="Calibri" pitchFamily="34" charset="0"/>
                <a:ea typeface="Calibri" pitchFamily="34" charset="-122"/>
                <a:cs typeface="Calibri" pitchFamily="34" charset="-120"/>
              </a:rPr>
              <a:t>Full Immunization: 9   ·   Stunting: 1   ·   Underweight: 1</a:t>
            </a:r>
            <a:endParaRPr lang="en-US" sz="1100" dirty="0"/>
          </a:p>
        </p:txBody>
      </p:sp>
      <p:sp>
        <p:nvSpPr>
          <p:cNvPr id="50" name="Text 47"/>
          <p:cNvSpPr txBox="1"/>
          <p:nvPr/>
        </p:nvSpPr>
        <p:spPr>
          <a:xfrm>
            <a:off x="7894015" y="5193792"/>
            <a:ext cx="3657600" cy="512064"/>
          </a:xfrm>
          <a:prstGeom prst="rect">
            <a:avLst/>
          </a:prstGeom>
          <a:noFill/>
          <a:ln/>
        </p:spPr>
        <p:txBody>
          <a:bodyPr wrap="square" lIns="0" tIns="0" rIns="0" bIns="0" rtlCol="0" anchor="ctr"/>
          <a:lstStyle/>
          <a:p>
            <a:pPr marL="0" indent="0" algn="r">
              <a:lnSpc>
                <a:spcPct val="110000"/>
              </a:lnSpc>
              <a:buNone/>
            </a:pPr>
            <a:r>
              <a:rPr lang="en-US" sz="1100" b="1" i="1" dirty="0">
                <a:solidFill>
                  <a:srgbClr val="065A82"/>
                </a:solidFill>
                <a:latin typeface="Calibri" pitchFamily="34" charset="0"/>
                <a:ea typeface="Calibri" pitchFamily="34" charset="-122"/>
                <a:cs typeface="Calibri" pitchFamily="34" charset="-120"/>
              </a:rPr>
              <a:t>No missing infrastructure or demographic values</a:t>
            </a:r>
            <a:endParaRPr lang="en-US" sz="1100" dirty="0"/>
          </a:p>
        </p:txBody>
      </p:sp>
      <p:sp>
        <p:nvSpPr>
          <p:cNvPr id="51" name="Shape 48"/>
          <p:cNvSpPr/>
          <p:nvPr/>
        </p:nvSpPr>
        <p:spPr>
          <a:xfrm>
            <a:off x="457200" y="5943600"/>
            <a:ext cx="11277295" cy="621792"/>
          </a:xfrm>
          <a:prstGeom prst="roundRect">
            <a:avLst>
              <a:gd name="adj" fmla="val 11765"/>
            </a:avLst>
          </a:prstGeom>
          <a:solidFill>
            <a:srgbClr val="21295C"/>
          </a:solidFill>
          <a:ln/>
        </p:spPr>
        <p:txBody>
          <a:bodyPr/>
          <a:lstStyle/>
          <a:p>
            <a:endParaRPr lang="en-US"/>
          </a:p>
        </p:txBody>
      </p:sp>
      <p:sp>
        <p:nvSpPr>
          <p:cNvPr id="52" name="Text 49"/>
          <p:cNvSpPr txBox="1"/>
          <p:nvPr/>
        </p:nvSpPr>
        <p:spPr>
          <a:xfrm>
            <a:off x="731520" y="5943600"/>
            <a:ext cx="10728655" cy="621792"/>
          </a:xfrm>
          <a:prstGeom prst="rect">
            <a:avLst/>
          </a:prstGeom>
          <a:noFill/>
          <a:ln/>
        </p:spPr>
        <p:txBody>
          <a:bodyPr wrap="square" lIns="0" tIns="0" rIns="0" bIns="0" rtlCol="0" anchor="ctr"/>
          <a:lstStyle/>
          <a:p>
            <a:pPr marL="0" indent="0">
              <a:lnSpc>
                <a:spcPct val="110000"/>
              </a:lnSpc>
              <a:buNone/>
            </a:pPr>
            <a:r>
              <a:rPr lang="en-US" sz="1150" i="1" dirty="0">
                <a:solidFill>
                  <a:srgbClr val="FFFFFF"/>
                </a:solidFill>
                <a:latin typeface="Calibri" pitchFamily="34" charset="0"/>
                <a:ea typeface="Calibri" pitchFamily="34" charset="-122"/>
                <a:cs typeface="Calibri" pitchFamily="34" charset="-120"/>
              </a:rPr>
              <a:t>KEY TAKEAWAY:  Substantial variation in healthcare infrastructure, meaningful cross-variable relationships, and limited missingness support standardized district-level comparison and downstream modelling.</a:t>
            </a:r>
            <a:endParaRPr lang="en-US" sz="1150" dirty="0"/>
          </a:p>
        </p:txBody>
      </p:sp>
      <p:sp>
        <p:nvSpPr>
          <p:cNvPr id="53" name="Text 50"/>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Healthcare Infrastructure Gap Index (HIGI)</a:t>
            </a:r>
            <a:endParaRPr lang="en-US" sz="900" dirty="0"/>
          </a:p>
        </p:txBody>
      </p:sp>
      <p:sp>
        <p:nvSpPr>
          <p:cNvPr id="54" name="Text 51"/>
          <p:cNvSpPr txBox="1"/>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pic>
        <p:nvPicPr>
          <p:cNvPr id="55" name="Picture 54">
            <a:hlinkHover r:id="rId3" action="ppaction://hlinksldjump"/>
            <a:extLst>
              <a:ext uri="{FF2B5EF4-FFF2-40B4-BE49-F238E27FC236}">
                <a16:creationId xmlns:a16="http://schemas.microsoft.com/office/drawing/2014/main" id="{4F84334A-B5D5-783F-5585-039250627E35}"/>
              </a:ext>
            </a:extLst>
          </p:cNvPr>
          <p:cNvPicPr>
            <a:picLocks noChangeAspect="1"/>
          </p:cNvPicPr>
          <p:nvPr/>
        </p:nvPicPr>
        <p:blipFill>
          <a:blip r:embed="rId4">
            <a:alphaModFix/>
          </a:blip>
          <a:srcRect l="1022" t="1995" r="1967" b="1762"/>
          <a:stretch>
            <a:fillRect/>
          </a:stretch>
        </p:blipFill>
        <p:spPr>
          <a:xfrm>
            <a:off x="759968" y="2487168"/>
            <a:ext cx="4754880" cy="1763776"/>
          </a:xfrm>
          <a:prstGeom prst="rect">
            <a:avLst/>
          </a:prstGeom>
        </p:spPr>
      </p:pic>
      <p:pic>
        <p:nvPicPr>
          <p:cNvPr id="58" name="drawing">
            <a:hlinkHover r:id="rId5" action="ppaction://hlinksldjump"/>
            <a:extLst>
              <a:ext uri="{FF2B5EF4-FFF2-40B4-BE49-F238E27FC236}">
                <a16:creationId xmlns:a16="http://schemas.microsoft.com/office/drawing/2014/main" id="{29EE6D22-2C74-B70D-8548-9165D4F8540C}"/>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7781544" y="2286840"/>
            <a:ext cx="1943084" cy="19064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a:solidFill>
                  <a:srgbClr val="21295C"/>
                </a:solidFill>
                <a:latin typeface="Cambria" pitchFamily="34" charset="0"/>
                <a:ea typeface="Cambria" pitchFamily="34" charset="-122"/>
                <a:cs typeface="Cambria" pitchFamily="34" charset="-120"/>
              </a:rPr>
              <a:t>Architecture diagram/Workflow</a:t>
            </a:r>
            <a:endParaRPr lang="en-US" sz="3000" dirty="0"/>
          </a:p>
        </p:txBody>
      </p:sp>
      <p:sp>
        <p:nvSpPr>
          <p:cNvPr id="3" name="Shape 1"/>
          <p:cNvSpPr/>
          <p:nvPr/>
        </p:nvSpPr>
        <p:spPr>
          <a:xfrm>
            <a:off x="3855568" y="1115568"/>
            <a:ext cx="1371600" cy="347472"/>
          </a:xfrm>
          <a:prstGeom prst="roundRect">
            <a:avLst>
              <a:gd name="adj" fmla="val 13158"/>
            </a:avLst>
          </a:prstGeom>
          <a:solidFill>
            <a:srgbClr val="1C7293"/>
          </a:solidFill>
          <a:ln/>
        </p:spPr>
        <p:txBody>
          <a:bodyPr/>
          <a:lstStyle/>
          <a:p>
            <a:endParaRPr lang="en-US"/>
          </a:p>
        </p:txBody>
      </p:sp>
      <p:sp>
        <p:nvSpPr>
          <p:cNvPr id="4" name="Text 2"/>
          <p:cNvSpPr txBox="1"/>
          <p:nvPr/>
        </p:nvSpPr>
        <p:spPr>
          <a:xfrm>
            <a:off x="3855568" y="1115568"/>
            <a:ext cx="137160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RHS</a:t>
            </a:r>
            <a:endParaRPr lang="en-US" sz="1050" dirty="0"/>
          </a:p>
        </p:txBody>
      </p:sp>
      <p:sp>
        <p:nvSpPr>
          <p:cNvPr id="5" name="Shape 3"/>
          <p:cNvSpPr/>
          <p:nvPr/>
        </p:nvSpPr>
        <p:spPr>
          <a:xfrm>
            <a:off x="5410048" y="1115568"/>
            <a:ext cx="1371600" cy="347472"/>
          </a:xfrm>
          <a:prstGeom prst="roundRect">
            <a:avLst>
              <a:gd name="adj" fmla="val 13158"/>
            </a:avLst>
          </a:prstGeom>
          <a:solidFill>
            <a:srgbClr val="1C7293"/>
          </a:solidFill>
          <a:ln/>
        </p:spPr>
        <p:txBody>
          <a:bodyPr/>
          <a:lstStyle/>
          <a:p>
            <a:endParaRPr lang="en-US"/>
          </a:p>
        </p:txBody>
      </p:sp>
      <p:sp>
        <p:nvSpPr>
          <p:cNvPr id="6" name="Text 4"/>
          <p:cNvSpPr txBox="1"/>
          <p:nvPr/>
        </p:nvSpPr>
        <p:spPr>
          <a:xfrm>
            <a:off x="5410048" y="1115568"/>
            <a:ext cx="137160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Census 2011</a:t>
            </a:r>
            <a:endParaRPr lang="en-US" sz="1050" dirty="0"/>
          </a:p>
        </p:txBody>
      </p:sp>
      <p:sp>
        <p:nvSpPr>
          <p:cNvPr id="7" name="Shape 5"/>
          <p:cNvSpPr/>
          <p:nvPr/>
        </p:nvSpPr>
        <p:spPr>
          <a:xfrm>
            <a:off x="6964528" y="1115568"/>
            <a:ext cx="1371600" cy="347472"/>
          </a:xfrm>
          <a:prstGeom prst="roundRect">
            <a:avLst>
              <a:gd name="adj" fmla="val 13158"/>
            </a:avLst>
          </a:prstGeom>
          <a:solidFill>
            <a:srgbClr val="1C7293"/>
          </a:solidFill>
          <a:ln/>
        </p:spPr>
        <p:txBody>
          <a:bodyPr/>
          <a:lstStyle/>
          <a:p>
            <a:endParaRPr lang="en-US"/>
          </a:p>
        </p:txBody>
      </p:sp>
      <p:sp>
        <p:nvSpPr>
          <p:cNvPr id="8" name="Text 6"/>
          <p:cNvSpPr txBox="1"/>
          <p:nvPr/>
        </p:nvSpPr>
        <p:spPr>
          <a:xfrm>
            <a:off x="6964528" y="1115568"/>
            <a:ext cx="137160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NFHS-5</a:t>
            </a:r>
            <a:endParaRPr lang="en-US" sz="1050" dirty="0"/>
          </a:p>
        </p:txBody>
      </p:sp>
      <p:sp>
        <p:nvSpPr>
          <p:cNvPr id="9" name="Shape 7"/>
          <p:cNvSpPr/>
          <p:nvPr/>
        </p:nvSpPr>
        <p:spPr>
          <a:xfrm>
            <a:off x="6004408" y="1481328"/>
            <a:ext cx="182880" cy="146304"/>
          </a:xfrm>
          <a:prstGeom prst="downArrow">
            <a:avLst/>
          </a:prstGeom>
          <a:solidFill>
            <a:srgbClr val="5B6B79"/>
          </a:solidFill>
          <a:ln/>
        </p:spPr>
        <p:txBody>
          <a:bodyPr/>
          <a:lstStyle/>
          <a:p>
            <a:endParaRPr lang="en-US"/>
          </a:p>
        </p:txBody>
      </p:sp>
      <p:sp>
        <p:nvSpPr>
          <p:cNvPr id="10" name="Shape 8"/>
          <p:cNvSpPr/>
          <p:nvPr/>
        </p:nvSpPr>
        <p:spPr>
          <a:xfrm>
            <a:off x="1176376" y="1664208"/>
            <a:ext cx="2240280" cy="566928"/>
          </a:xfrm>
          <a:prstGeom prst="roundRect">
            <a:avLst>
              <a:gd name="adj" fmla="val 8065"/>
            </a:avLst>
          </a:prstGeom>
          <a:solidFill>
            <a:srgbClr val="065A82"/>
          </a:solidFill>
          <a:ln/>
        </p:spPr>
        <p:txBody>
          <a:bodyPr/>
          <a:lstStyle/>
          <a:p>
            <a:endParaRPr lang="en-US"/>
          </a:p>
        </p:txBody>
      </p:sp>
      <p:sp>
        <p:nvSpPr>
          <p:cNvPr id="11" name="Text 9"/>
          <p:cNvSpPr txBox="1"/>
          <p:nvPr/>
        </p:nvSpPr>
        <p:spPr>
          <a:xfrm>
            <a:off x="1176376" y="1664208"/>
            <a:ext cx="224028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INTEGRATION</a:t>
            </a:r>
            <a:endParaRPr lang="en-US" sz="1100" dirty="0"/>
          </a:p>
        </p:txBody>
      </p:sp>
      <p:sp>
        <p:nvSpPr>
          <p:cNvPr id="12" name="Shape 10"/>
          <p:cNvSpPr/>
          <p:nvPr/>
        </p:nvSpPr>
        <p:spPr>
          <a:xfrm>
            <a:off x="3453232" y="1856232"/>
            <a:ext cx="219456" cy="182880"/>
          </a:xfrm>
          <a:prstGeom prst="rightArrow">
            <a:avLst/>
          </a:prstGeom>
          <a:solidFill>
            <a:srgbClr val="5B6B79"/>
          </a:solidFill>
          <a:ln/>
        </p:spPr>
        <p:txBody>
          <a:bodyPr/>
          <a:lstStyle/>
          <a:p>
            <a:endParaRPr lang="en-US"/>
          </a:p>
        </p:txBody>
      </p:sp>
      <p:sp>
        <p:nvSpPr>
          <p:cNvPr id="13" name="Shape 11"/>
          <p:cNvSpPr/>
          <p:nvPr/>
        </p:nvSpPr>
        <p:spPr>
          <a:xfrm>
            <a:off x="3709264" y="1664208"/>
            <a:ext cx="2240280" cy="566928"/>
          </a:xfrm>
          <a:prstGeom prst="roundRect">
            <a:avLst>
              <a:gd name="adj" fmla="val 8065"/>
            </a:avLst>
          </a:prstGeom>
          <a:solidFill>
            <a:srgbClr val="065A82"/>
          </a:solidFill>
          <a:ln/>
        </p:spPr>
        <p:txBody>
          <a:bodyPr/>
          <a:lstStyle/>
          <a:p>
            <a:endParaRPr lang="en-US"/>
          </a:p>
        </p:txBody>
      </p:sp>
      <p:sp>
        <p:nvSpPr>
          <p:cNvPr id="14" name="Text 12"/>
          <p:cNvSpPr txBox="1"/>
          <p:nvPr/>
        </p:nvSpPr>
        <p:spPr>
          <a:xfrm>
            <a:off x="3709264" y="1664208"/>
            <a:ext cx="224028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CLEANING</a:t>
            </a:r>
            <a:endParaRPr lang="en-US" sz="1100" dirty="0"/>
          </a:p>
        </p:txBody>
      </p:sp>
      <p:sp>
        <p:nvSpPr>
          <p:cNvPr id="15" name="Shape 13"/>
          <p:cNvSpPr/>
          <p:nvPr/>
        </p:nvSpPr>
        <p:spPr>
          <a:xfrm>
            <a:off x="5986120" y="1856232"/>
            <a:ext cx="219456" cy="182880"/>
          </a:xfrm>
          <a:prstGeom prst="rightArrow">
            <a:avLst/>
          </a:prstGeom>
          <a:solidFill>
            <a:srgbClr val="5B6B79"/>
          </a:solidFill>
          <a:ln/>
        </p:spPr>
        <p:txBody>
          <a:bodyPr/>
          <a:lstStyle/>
          <a:p>
            <a:endParaRPr lang="en-US"/>
          </a:p>
        </p:txBody>
      </p:sp>
      <p:sp>
        <p:nvSpPr>
          <p:cNvPr id="16" name="Shape 14"/>
          <p:cNvSpPr/>
          <p:nvPr/>
        </p:nvSpPr>
        <p:spPr>
          <a:xfrm>
            <a:off x="6242152" y="1664208"/>
            <a:ext cx="2240280" cy="566928"/>
          </a:xfrm>
          <a:prstGeom prst="roundRect">
            <a:avLst>
              <a:gd name="adj" fmla="val 8065"/>
            </a:avLst>
          </a:prstGeom>
          <a:solidFill>
            <a:srgbClr val="065A82"/>
          </a:solidFill>
          <a:ln/>
        </p:spPr>
        <p:txBody>
          <a:bodyPr/>
          <a:lstStyle/>
          <a:p>
            <a:endParaRPr lang="en-US"/>
          </a:p>
        </p:txBody>
      </p:sp>
      <p:sp>
        <p:nvSpPr>
          <p:cNvPr id="17" name="Text 15"/>
          <p:cNvSpPr txBox="1"/>
          <p:nvPr/>
        </p:nvSpPr>
        <p:spPr>
          <a:xfrm>
            <a:off x="6242152" y="1664208"/>
            <a:ext cx="224028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EDA</a:t>
            </a:r>
            <a:endParaRPr lang="en-US" sz="1100" dirty="0"/>
          </a:p>
        </p:txBody>
      </p:sp>
      <p:sp>
        <p:nvSpPr>
          <p:cNvPr id="18" name="Shape 16"/>
          <p:cNvSpPr/>
          <p:nvPr/>
        </p:nvSpPr>
        <p:spPr>
          <a:xfrm>
            <a:off x="8519008" y="1856232"/>
            <a:ext cx="219456" cy="182880"/>
          </a:xfrm>
          <a:prstGeom prst="rightArrow">
            <a:avLst/>
          </a:prstGeom>
          <a:solidFill>
            <a:srgbClr val="5B6B79"/>
          </a:solidFill>
          <a:ln/>
        </p:spPr>
        <p:txBody>
          <a:bodyPr/>
          <a:lstStyle/>
          <a:p>
            <a:endParaRPr lang="en-US"/>
          </a:p>
        </p:txBody>
      </p:sp>
      <p:sp>
        <p:nvSpPr>
          <p:cNvPr id="19" name="Shape 17"/>
          <p:cNvSpPr/>
          <p:nvPr/>
        </p:nvSpPr>
        <p:spPr>
          <a:xfrm>
            <a:off x="8775040" y="1664208"/>
            <a:ext cx="2240280" cy="566928"/>
          </a:xfrm>
          <a:prstGeom prst="roundRect">
            <a:avLst>
              <a:gd name="adj" fmla="val 8065"/>
            </a:avLst>
          </a:prstGeom>
          <a:solidFill>
            <a:srgbClr val="065A82"/>
          </a:solidFill>
          <a:ln/>
        </p:spPr>
        <p:txBody>
          <a:bodyPr/>
          <a:lstStyle/>
          <a:p>
            <a:endParaRPr lang="en-US"/>
          </a:p>
        </p:txBody>
      </p:sp>
      <p:sp>
        <p:nvSpPr>
          <p:cNvPr id="20" name="Text 18"/>
          <p:cNvSpPr txBox="1"/>
          <p:nvPr/>
        </p:nvSpPr>
        <p:spPr>
          <a:xfrm>
            <a:off x="8775040" y="1664208"/>
            <a:ext cx="224028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ENGINEERING</a:t>
            </a:r>
            <a:endParaRPr lang="en-US" sz="1100" dirty="0"/>
          </a:p>
        </p:txBody>
      </p:sp>
      <p:sp>
        <p:nvSpPr>
          <p:cNvPr id="21" name="Text 19"/>
          <p:cNvSpPr txBox="1"/>
          <p:nvPr/>
        </p:nvSpPr>
        <p:spPr>
          <a:xfrm>
            <a:off x="1176376" y="2267712"/>
            <a:ext cx="2240280" cy="201168"/>
          </a:xfrm>
          <a:prstGeom prst="rect">
            <a:avLst/>
          </a:prstGeom>
          <a:noFill/>
          <a:ln/>
        </p:spPr>
        <p:txBody>
          <a:bodyPr wrap="square" lIns="0" tIns="0" rIns="0" bIns="0" rtlCol="0" anchor="ctr"/>
          <a:lstStyle/>
          <a:p>
            <a:pPr marL="0" indent="0" algn="ctr">
              <a:buNone/>
            </a:pPr>
            <a:r>
              <a:rPr lang="en-US" sz="850" i="1" dirty="0">
                <a:solidFill>
                  <a:srgbClr val="5B6B79"/>
                </a:solidFill>
                <a:latin typeface="Calibri" pitchFamily="34" charset="0"/>
                <a:ea typeface="Calibri" pitchFamily="34" charset="-122"/>
                <a:cs typeface="Calibri" pitchFamily="34" charset="-120"/>
              </a:rPr>
              <a:t>3 official data sources</a:t>
            </a:r>
            <a:endParaRPr lang="en-US" sz="850" dirty="0"/>
          </a:p>
        </p:txBody>
      </p:sp>
      <p:sp>
        <p:nvSpPr>
          <p:cNvPr id="22" name="Text 20"/>
          <p:cNvSpPr txBox="1"/>
          <p:nvPr/>
        </p:nvSpPr>
        <p:spPr>
          <a:xfrm>
            <a:off x="3709264" y="2267712"/>
            <a:ext cx="2240280" cy="201168"/>
          </a:xfrm>
          <a:prstGeom prst="rect">
            <a:avLst/>
          </a:prstGeom>
          <a:noFill/>
          <a:ln/>
        </p:spPr>
        <p:txBody>
          <a:bodyPr wrap="square" lIns="0" tIns="0" rIns="0" bIns="0" rtlCol="0" anchor="ctr"/>
          <a:lstStyle/>
          <a:p>
            <a:pPr marL="0" indent="0" algn="ctr">
              <a:buNone/>
            </a:pPr>
            <a:r>
              <a:rPr lang="en-US" sz="850" i="1" dirty="0">
                <a:solidFill>
                  <a:srgbClr val="5B6B79"/>
                </a:solidFill>
                <a:latin typeface="Calibri" pitchFamily="34" charset="0"/>
                <a:ea typeface="Calibri" pitchFamily="34" charset="-122"/>
                <a:cs typeface="Calibri" pitchFamily="34" charset="-120"/>
              </a:rPr>
              <a:t>Harmonization • quality checks</a:t>
            </a:r>
            <a:endParaRPr lang="en-US" sz="850" dirty="0"/>
          </a:p>
        </p:txBody>
      </p:sp>
      <p:sp>
        <p:nvSpPr>
          <p:cNvPr id="23" name="Text 21"/>
          <p:cNvSpPr txBox="1"/>
          <p:nvPr/>
        </p:nvSpPr>
        <p:spPr>
          <a:xfrm>
            <a:off x="6242152" y="2267712"/>
            <a:ext cx="2240280" cy="201168"/>
          </a:xfrm>
          <a:prstGeom prst="rect">
            <a:avLst/>
          </a:prstGeom>
          <a:noFill/>
          <a:ln/>
        </p:spPr>
        <p:txBody>
          <a:bodyPr wrap="square" lIns="0" tIns="0" rIns="0" bIns="0" rtlCol="0" anchor="ctr"/>
          <a:lstStyle/>
          <a:p>
            <a:pPr marL="0" indent="0" algn="ctr">
              <a:buNone/>
            </a:pPr>
            <a:r>
              <a:rPr lang="en-US" sz="850" i="1" dirty="0">
                <a:solidFill>
                  <a:srgbClr val="5B6B79"/>
                </a:solidFill>
                <a:latin typeface="Calibri" pitchFamily="34" charset="0"/>
                <a:ea typeface="Calibri" pitchFamily="34" charset="-122"/>
                <a:cs typeface="Calibri" pitchFamily="34" charset="-120"/>
              </a:rPr>
              <a:t>Distributions • correlations</a:t>
            </a:r>
            <a:endParaRPr lang="en-US" sz="850" dirty="0"/>
          </a:p>
        </p:txBody>
      </p:sp>
      <p:sp>
        <p:nvSpPr>
          <p:cNvPr id="24" name="Text 22"/>
          <p:cNvSpPr txBox="1"/>
          <p:nvPr/>
        </p:nvSpPr>
        <p:spPr>
          <a:xfrm>
            <a:off x="8775040" y="2267712"/>
            <a:ext cx="2240280" cy="201168"/>
          </a:xfrm>
          <a:prstGeom prst="rect">
            <a:avLst/>
          </a:prstGeom>
          <a:noFill/>
          <a:ln/>
        </p:spPr>
        <p:txBody>
          <a:bodyPr wrap="square" lIns="0" tIns="0" rIns="0" bIns="0" rtlCol="0" anchor="ctr"/>
          <a:lstStyle/>
          <a:p>
            <a:pPr algn="ctr"/>
            <a:r>
              <a:rPr lang="en-US" sz="850" i="1">
                <a:solidFill>
                  <a:srgbClr val="5B6B79"/>
                </a:solidFill>
                <a:latin typeface="Calibri" pitchFamily="34" charset="0"/>
                <a:ea typeface="Calibri" pitchFamily="34" charset="-122"/>
                <a:cs typeface="Calibri" pitchFamily="34" charset="-120"/>
              </a:rPr>
              <a:t>Clipping • normalization • </a:t>
            </a:r>
            <a:r>
              <a:rPr lang="en-US" sz="850" i="1" dirty="0">
                <a:solidFill>
                  <a:srgbClr val="5B6B79"/>
                </a:solidFill>
                <a:latin typeface="Calibri" pitchFamily="34" charset="0"/>
                <a:ea typeface="Calibri" pitchFamily="34" charset="-122"/>
                <a:cs typeface="Calibri" pitchFamily="34" charset="-120"/>
              </a:rPr>
              <a:t>HIGI construction</a:t>
            </a:r>
            <a:endParaRPr lang="en-US" sz="850" dirty="0"/>
          </a:p>
        </p:txBody>
      </p:sp>
      <p:sp>
        <p:nvSpPr>
          <p:cNvPr id="25" name="Shape 23"/>
          <p:cNvSpPr/>
          <p:nvPr/>
        </p:nvSpPr>
        <p:spPr>
          <a:xfrm>
            <a:off x="5995264" y="2505456"/>
            <a:ext cx="201168" cy="173736"/>
          </a:xfrm>
          <a:prstGeom prst="downArrow">
            <a:avLst/>
          </a:prstGeom>
          <a:solidFill>
            <a:srgbClr val="5B6B79"/>
          </a:solidFill>
          <a:ln/>
        </p:spPr>
        <p:txBody>
          <a:bodyPr/>
          <a:lstStyle/>
          <a:p>
            <a:endParaRPr lang="en-US"/>
          </a:p>
        </p:txBody>
      </p:sp>
      <p:sp>
        <p:nvSpPr>
          <p:cNvPr id="26" name="Shape 24"/>
          <p:cNvSpPr/>
          <p:nvPr/>
        </p:nvSpPr>
        <p:spPr>
          <a:xfrm>
            <a:off x="2758288" y="2734056"/>
            <a:ext cx="2834640" cy="384048"/>
          </a:xfrm>
          <a:prstGeom prst="roundRect">
            <a:avLst>
              <a:gd name="adj" fmla="val 11905"/>
            </a:avLst>
          </a:prstGeom>
          <a:solidFill>
            <a:srgbClr val="21295C"/>
          </a:solidFill>
          <a:ln/>
        </p:spPr>
        <p:txBody>
          <a:bodyPr/>
          <a:lstStyle/>
          <a:p>
            <a:endParaRPr lang="en-US"/>
          </a:p>
        </p:txBody>
      </p:sp>
      <p:sp>
        <p:nvSpPr>
          <p:cNvPr id="27" name="Text 25"/>
          <p:cNvSpPr txBox="1"/>
          <p:nvPr/>
        </p:nvSpPr>
        <p:spPr>
          <a:xfrm>
            <a:off x="2758288" y="2734056"/>
            <a:ext cx="28346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K-MEANS CLUSTERING</a:t>
            </a:r>
            <a:endParaRPr lang="en-US" sz="1100" dirty="0"/>
          </a:p>
        </p:txBody>
      </p:sp>
      <p:sp>
        <p:nvSpPr>
          <p:cNvPr id="28" name="Shape 26"/>
          <p:cNvSpPr/>
          <p:nvPr/>
        </p:nvSpPr>
        <p:spPr>
          <a:xfrm>
            <a:off x="6598768" y="2734056"/>
            <a:ext cx="2834640" cy="384048"/>
          </a:xfrm>
          <a:prstGeom prst="roundRect">
            <a:avLst>
              <a:gd name="adj" fmla="val 11905"/>
            </a:avLst>
          </a:prstGeom>
          <a:solidFill>
            <a:srgbClr val="21295C"/>
          </a:solidFill>
          <a:ln/>
        </p:spPr>
        <p:txBody>
          <a:bodyPr/>
          <a:lstStyle/>
          <a:p>
            <a:endParaRPr lang="en-US"/>
          </a:p>
        </p:txBody>
      </p:sp>
      <p:sp>
        <p:nvSpPr>
          <p:cNvPr id="29" name="Text 27"/>
          <p:cNvSpPr txBox="1"/>
          <p:nvPr/>
        </p:nvSpPr>
        <p:spPr>
          <a:xfrm>
            <a:off x="6598768" y="2734056"/>
            <a:ext cx="28346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RANDOM FOREST</a:t>
            </a:r>
            <a:endParaRPr lang="en-US" sz="1100" dirty="0"/>
          </a:p>
        </p:txBody>
      </p:sp>
      <p:sp>
        <p:nvSpPr>
          <p:cNvPr id="30" name="Text 28"/>
          <p:cNvSpPr txBox="1"/>
          <p:nvPr/>
        </p:nvSpPr>
        <p:spPr>
          <a:xfrm>
            <a:off x="2758288" y="3136392"/>
            <a:ext cx="2834640" cy="182880"/>
          </a:xfrm>
          <a:prstGeom prst="rect">
            <a:avLst/>
          </a:prstGeom>
          <a:noFill/>
          <a:ln/>
        </p:spPr>
        <p:txBody>
          <a:bodyPr wrap="square" lIns="0" tIns="0" rIns="0" bIns="0" rtlCol="0" anchor="ctr"/>
          <a:lstStyle/>
          <a:p>
            <a:pPr marL="0" indent="0" algn="ctr">
              <a:buNone/>
            </a:pPr>
            <a:r>
              <a:rPr lang="en-US" sz="900" i="1" dirty="0">
                <a:solidFill>
                  <a:srgbClr val="5B6B79"/>
                </a:solidFill>
                <a:latin typeface="Calibri" pitchFamily="34" charset="0"/>
                <a:ea typeface="Calibri" pitchFamily="34" charset="-122"/>
                <a:cs typeface="Calibri" pitchFamily="34" charset="-120"/>
              </a:rPr>
              <a:t>District profiling</a:t>
            </a:r>
            <a:endParaRPr lang="en-US" sz="900" dirty="0"/>
          </a:p>
        </p:txBody>
      </p:sp>
      <p:sp>
        <p:nvSpPr>
          <p:cNvPr id="31" name="Text 29"/>
          <p:cNvSpPr txBox="1"/>
          <p:nvPr/>
        </p:nvSpPr>
        <p:spPr>
          <a:xfrm>
            <a:off x="6598768" y="3136392"/>
            <a:ext cx="2834640" cy="182880"/>
          </a:xfrm>
          <a:prstGeom prst="rect">
            <a:avLst/>
          </a:prstGeom>
          <a:noFill/>
          <a:ln/>
        </p:spPr>
        <p:txBody>
          <a:bodyPr wrap="square" lIns="0" tIns="0" rIns="0" bIns="0" rtlCol="0" anchor="ctr"/>
          <a:lstStyle/>
          <a:p>
            <a:pPr marL="0" indent="0" algn="ctr">
              <a:buNone/>
            </a:pPr>
            <a:r>
              <a:rPr lang="en-US" sz="900" i="1" dirty="0">
                <a:solidFill>
                  <a:srgbClr val="5B6B79"/>
                </a:solidFill>
                <a:latin typeface="Calibri" pitchFamily="34" charset="0"/>
                <a:ea typeface="Calibri" pitchFamily="34" charset="-122"/>
                <a:cs typeface="Calibri" pitchFamily="34" charset="-120"/>
              </a:rPr>
              <a:t>HIGI prediction</a:t>
            </a:r>
            <a:endParaRPr lang="en-US" sz="900" dirty="0"/>
          </a:p>
        </p:txBody>
      </p:sp>
      <p:sp>
        <p:nvSpPr>
          <p:cNvPr id="32" name="Shape 30"/>
          <p:cNvSpPr/>
          <p:nvPr/>
        </p:nvSpPr>
        <p:spPr>
          <a:xfrm>
            <a:off x="4084168" y="3355848"/>
            <a:ext cx="182880" cy="137160"/>
          </a:xfrm>
          <a:prstGeom prst="downArrow">
            <a:avLst/>
          </a:prstGeom>
          <a:solidFill>
            <a:srgbClr val="5B6B79"/>
          </a:solidFill>
          <a:ln/>
        </p:spPr>
        <p:txBody>
          <a:bodyPr/>
          <a:lstStyle/>
          <a:p>
            <a:endParaRPr lang="en-US"/>
          </a:p>
        </p:txBody>
      </p:sp>
      <p:sp>
        <p:nvSpPr>
          <p:cNvPr id="33" name="Shape 31"/>
          <p:cNvSpPr/>
          <p:nvPr/>
        </p:nvSpPr>
        <p:spPr>
          <a:xfrm>
            <a:off x="7924648" y="3355848"/>
            <a:ext cx="182880" cy="137160"/>
          </a:xfrm>
          <a:prstGeom prst="downArrow">
            <a:avLst/>
          </a:prstGeom>
          <a:solidFill>
            <a:srgbClr val="5B6B79"/>
          </a:solidFill>
          <a:ln/>
        </p:spPr>
        <p:txBody>
          <a:bodyPr/>
          <a:lstStyle/>
          <a:p>
            <a:endParaRPr lang="en-US"/>
          </a:p>
        </p:txBody>
      </p:sp>
      <p:sp>
        <p:nvSpPr>
          <p:cNvPr id="34" name="Shape 32"/>
          <p:cNvSpPr/>
          <p:nvPr/>
        </p:nvSpPr>
        <p:spPr>
          <a:xfrm>
            <a:off x="2758288" y="3529584"/>
            <a:ext cx="2834640" cy="384048"/>
          </a:xfrm>
          <a:prstGeom prst="roundRect">
            <a:avLst>
              <a:gd name="adj" fmla="val 11905"/>
            </a:avLst>
          </a:prstGeom>
          <a:solidFill>
            <a:srgbClr val="1C7293"/>
          </a:solidFill>
          <a:ln/>
        </p:spPr>
        <p:txBody>
          <a:bodyPr/>
          <a:lstStyle/>
          <a:p>
            <a:endParaRPr lang="en-US"/>
          </a:p>
        </p:txBody>
      </p:sp>
      <p:sp>
        <p:nvSpPr>
          <p:cNvPr id="35" name="Text 33"/>
          <p:cNvSpPr txBox="1"/>
          <p:nvPr/>
        </p:nvSpPr>
        <p:spPr>
          <a:xfrm>
            <a:off x="2758288" y="3529584"/>
            <a:ext cx="283464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Cluster Validation</a:t>
            </a:r>
            <a:endParaRPr lang="en-US" sz="1050" dirty="0"/>
          </a:p>
        </p:txBody>
      </p:sp>
      <p:sp>
        <p:nvSpPr>
          <p:cNvPr id="36" name="Shape 34"/>
          <p:cNvSpPr/>
          <p:nvPr/>
        </p:nvSpPr>
        <p:spPr>
          <a:xfrm>
            <a:off x="6598768" y="3529584"/>
            <a:ext cx="2834640" cy="384048"/>
          </a:xfrm>
          <a:prstGeom prst="roundRect">
            <a:avLst>
              <a:gd name="adj" fmla="val 11905"/>
            </a:avLst>
          </a:prstGeom>
          <a:solidFill>
            <a:srgbClr val="1C7293"/>
          </a:solidFill>
          <a:ln/>
        </p:spPr>
        <p:txBody>
          <a:bodyPr/>
          <a:lstStyle/>
          <a:p>
            <a:endParaRPr lang="en-US"/>
          </a:p>
        </p:txBody>
      </p:sp>
      <p:sp>
        <p:nvSpPr>
          <p:cNvPr id="37" name="Text 35"/>
          <p:cNvSpPr txBox="1"/>
          <p:nvPr/>
        </p:nvSpPr>
        <p:spPr>
          <a:xfrm>
            <a:off x="6598768" y="3529584"/>
            <a:ext cx="283464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Model Evaluation</a:t>
            </a:r>
            <a:endParaRPr lang="en-US" sz="1050" dirty="0"/>
          </a:p>
        </p:txBody>
      </p:sp>
      <p:sp>
        <p:nvSpPr>
          <p:cNvPr id="38" name="Text 36"/>
          <p:cNvSpPr txBox="1"/>
          <p:nvPr/>
        </p:nvSpPr>
        <p:spPr>
          <a:xfrm>
            <a:off x="2758288" y="3931920"/>
            <a:ext cx="2834640" cy="182880"/>
          </a:xfrm>
          <a:prstGeom prst="rect">
            <a:avLst/>
          </a:prstGeom>
          <a:noFill/>
          <a:ln/>
        </p:spPr>
        <p:txBody>
          <a:bodyPr wrap="square" lIns="0" tIns="0" rIns="0" bIns="0" rtlCol="0" anchor="ctr"/>
          <a:lstStyle/>
          <a:p>
            <a:pPr marL="0" indent="0" algn="ctr">
              <a:buNone/>
            </a:pPr>
            <a:r>
              <a:rPr lang="en-US" sz="850" dirty="0">
                <a:solidFill>
                  <a:srgbClr val="5B6B79"/>
                </a:solidFill>
                <a:latin typeface="Calibri" pitchFamily="34" charset="0"/>
                <a:ea typeface="Calibri" pitchFamily="34" charset="-122"/>
                <a:cs typeface="Calibri" pitchFamily="34" charset="-120"/>
              </a:rPr>
              <a:t>Silhouette = 0.2018 • DBI = 1.6442</a:t>
            </a:r>
            <a:endParaRPr lang="en-US" sz="850" dirty="0"/>
          </a:p>
        </p:txBody>
      </p:sp>
      <p:sp>
        <p:nvSpPr>
          <p:cNvPr id="39" name="Text 37"/>
          <p:cNvSpPr txBox="1"/>
          <p:nvPr/>
        </p:nvSpPr>
        <p:spPr>
          <a:xfrm>
            <a:off x="6598768" y="3931920"/>
            <a:ext cx="2834640" cy="182880"/>
          </a:xfrm>
          <a:prstGeom prst="rect">
            <a:avLst/>
          </a:prstGeom>
          <a:noFill/>
          <a:ln/>
        </p:spPr>
        <p:txBody>
          <a:bodyPr wrap="square" lIns="0" tIns="0" rIns="0" bIns="0" rtlCol="0" anchor="ctr"/>
          <a:lstStyle/>
          <a:p>
            <a:pPr marL="0" indent="0" algn="ctr">
              <a:buNone/>
            </a:pPr>
            <a:r>
              <a:rPr lang="en-US" sz="850" dirty="0">
                <a:solidFill>
                  <a:srgbClr val="5B6B79"/>
                </a:solidFill>
                <a:latin typeface="Calibri" pitchFamily="34" charset="0"/>
                <a:ea typeface="Calibri" pitchFamily="34" charset="-122"/>
                <a:cs typeface="Calibri" pitchFamily="34" charset="-120"/>
              </a:rPr>
              <a:t>MAE • RMSE • R²</a:t>
            </a:r>
            <a:endParaRPr lang="en-US" sz="850" dirty="0"/>
          </a:p>
        </p:txBody>
      </p:sp>
      <p:sp>
        <p:nvSpPr>
          <p:cNvPr id="40" name="Shape 38"/>
          <p:cNvSpPr/>
          <p:nvPr/>
        </p:nvSpPr>
        <p:spPr>
          <a:xfrm>
            <a:off x="4175608" y="4151376"/>
            <a:ext cx="0" cy="109728"/>
          </a:xfrm>
          <a:prstGeom prst="line">
            <a:avLst/>
          </a:prstGeom>
          <a:noFill/>
          <a:ln w="19050">
            <a:solidFill>
              <a:srgbClr val="5B6B79"/>
            </a:solidFill>
            <a:prstDash val="solid"/>
          </a:ln>
        </p:spPr>
        <p:txBody>
          <a:bodyPr/>
          <a:lstStyle/>
          <a:p>
            <a:endParaRPr lang="en-US"/>
          </a:p>
        </p:txBody>
      </p:sp>
      <p:sp>
        <p:nvSpPr>
          <p:cNvPr id="41" name="Shape 39"/>
          <p:cNvSpPr/>
          <p:nvPr/>
        </p:nvSpPr>
        <p:spPr>
          <a:xfrm>
            <a:off x="8016088" y="4151376"/>
            <a:ext cx="0" cy="109728"/>
          </a:xfrm>
          <a:prstGeom prst="line">
            <a:avLst/>
          </a:prstGeom>
          <a:noFill/>
          <a:ln w="19050">
            <a:solidFill>
              <a:srgbClr val="5B6B79"/>
            </a:solidFill>
            <a:prstDash val="solid"/>
          </a:ln>
        </p:spPr>
        <p:txBody>
          <a:bodyPr/>
          <a:lstStyle/>
          <a:p>
            <a:endParaRPr lang="en-US"/>
          </a:p>
        </p:txBody>
      </p:sp>
      <p:sp>
        <p:nvSpPr>
          <p:cNvPr id="42" name="Shape 40"/>
          <p:cNvSpPr/>
          <p:nvPr/>
        </p:nvSpPr>
        <p:spPr>
          <a:xfrm>
            <a:off x="4175608" y="4261104"/>
            <a:ext cx="3840480" cy="0"/>
          </a:xfrm>
          <a:prstGeom prst="line">
            <a:avLst/>
          </a:prstGeom>
          <a:noFill/>
          <a:ln w="19050">
            <a:solidFill>
              <a:srgbClr val="5B6B79"/>
            </a:solidFill>
            <a:prstDash val="solid"/>
          </a:ln>
        </p:spPr>
        <p:txBody>
          <a:bodyPr/>
          <a:lstStyle/>
          <a:p>
            <a:endParaRPr lang="en-US"/>
          </a:p>
        </p:txBody>
      </p:sp>
      <p:sp>
        <p:nvSpPr>
          <p:cNvPr id="43" name="Shape 41"/>
          <p:cNvSpPr/>
          <p:nvPr/>
        </p:nvSpPr>
        <p:spPr>
          <a:xfrm>
            <a:off x="6004408" y="4261104"/>
            <a:ext cx="182880" cy="146304"/>
          </a:xfrm>
          <a:prstGeom prst="downArrow">
            <a:avLst/>
          </a:prstGeom>
          <a:solidFill>
            <a:srgbClr val="5B6B79"/>
          </a:solidFill>
          <a:ln/>
        </p:spPr>
        <p:txBody>
          <a:bodyPr/>
          <a:lstStyle/>
          <a:p>
            <a:endParaRPr lang="en-US"/>
          </a:p>
        </p:txBody>
      </p:sp>
      <p:sp>
        <p:nvSpPr>
          <p:cNvPr id="44" name="Shape 42"/>
          <p:cNvSpPr/>
          <p:nvPr/>
        </p:nvSpPr>
        <p:spPr>
          <a:xfrm>
            <a:off x="4587088" y="4453128"/>
            <a:ext cx="3017520" cy="365760"/>
          </a:xfrm>
          <a:prstGeom prst="roundRect">
            <a:avLst>
              <a:gd name="adj" fmla="val 12500"/>
            </a:avLst>
          </a:prstGeom>
          <a:solidFill>
            <a:srgbClr val="21295C"/>
          </a:solidFill>
          <a:ln/>
        </p:spPr>
        <p:txBody>
          <a:bodyPr/>
          <a:lstStyle/>
          <a:p>
            <a:endParaRPr lang="en-US"/>
          </a:p>
        </p:txBody>
      </p:sp>
      <p:sp>
        <p:nvSpPr>
          <p:cNvPr id="45" name="Text 43"/>
          <p:cNvSpPr txBox="1"/>
          <p:nvPr/>
        </p:nvSpPr>
        <p:spPr>
          <a:xfrm>
            <a:off x="4587088" y="4453128"/>
            <a:ext cx="30175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AI-ASSISTED RANKING</a:t>
            </a:r>
            <a:endParaRPr lang="en-US" sz="1100" dirty="0"/>
          </a:p>
        </p:txBody>
      </p:sp>
      <p:sp>
        <p:nvSpPr>
          <p:cNvPr id="46" name="Shape 44"/>
          <p:cNvSpPr/>
          <p:nvPr/>
        </p:nvSpPr>
        <p:spPr>
          <a:xfrm>
            <a:off x="6004408" y="4846320"/>
            <a:ext cx="182880" cy="146304"/>
          </a:xfrm>
          <a:prstGeom prst="downArrow">
            <a:avLst/>
          </a:prstGeom>
          <a:solidFill>
            <a:srgbClr val="5B6B79"/>
          </a:solidFill>
          <a:ln/>
        </p:spPr>
        <p:txBody>
          <a:bodyPr/>
          <a:lstStyle/>
          <a:p>
            <a:endParaRPr lang="en-US"/>
          </a:p>
        </p:txBody>
      </p:sp>
      <p:sp>
        <p:nvSpPr>
          <p:cNvPr id="47" name="Shape 45"/>
          <p:cNvSpPr/>
          <p:nvPr/>
        </p:nvSpPr>
        <p:spPr>
          <a:xfrm>
            <a:off x="4587088" y="5020056"/>
            <a:ext cx="3017520" cy="365760"/>
          </a:xfrm>
          <a:prstGeom prst="roundRect">
            <a:avLst>
              <a:gd name="adj" fmla="val 12500"/>
            </a:avLst>
          </a:prstGeom>
          <a:solidFill>
            <a:srgbClr val="065A82"/>
          </a:solidFill>
          <a:ln/>
        </p:spPr>
        <p:txBody>
          <a:bodyPr/>
          <a:lstStyle/>
          <a:p>
            <a:endParaRPr lang="en-US"/>
          </a:p>
        </p:txBody>
      </p:sp>
      <p:sp>
        <p:nvSpPr>
          <p:cNvPr id="48" name="Text 46"/>
          <p:cNvSpPr txBox="1"/>
          <p:nvPr/>
        </p:nvSpPr>
        <p:spPr>
          <a:xfrm>
            <a:off x="4587088" y="5020056"/>
            <a:ext cx="30175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DECISION SUPPORT</a:t>
            </a:r>
            <a:endParaRPr lang="en-US" sz="1100" dirty="0"/>
          </a:p>
        </p:txBody>
      </p:sp>
      <p:sp>
        <p:nvSpPr>
          <p:cNvPr id="49" name="Text 47"/>
          <p:cNvSpPr txBox="1"/>
          <p:nvPr/>
        </p:nvSpPr>
        <p:spPr>
          <a:xfrm>
            <a:off x="457200" y="5550408"/>
            <a:ext cx="11277295" cy="274320"/>
          </a:xfrm>
          <a:prstGeom prst="rect">
            <a:avLst/>
          </a:prstGeom>
          <a:noFill/>
          <a:ln/>
        </p:spPr>
        <p:txBody>
          <a:bodyPr wrap="square" lIns="0" tIns="0" rIns="0" bIns="0" rtlCol="0" anchor="ctr"/>
          <a:lstStyle/>
          <a:p>
            <a:pPr marL="0" indent="0" algn="ctr">
              <a:buNone/>
            </a:pPr>
            <a:r>
              <a:rPr lang="en-US" sz="1000" i="1" dirty="0">
                <a:solidFill>
                  <a:srgbClr val="5B6B79"/>
                </a:solidFill>
                <a:latin typeface="Calibri" pitchFamily="34" charset="0"/>
                <a:ea typeface="Calibri" pitchFamily="34" charset="-122"/>
                <a:cs typeface="Calibri" pitchFamily="34" charset="-120"/>
              </a:rPr>
              <a:t>Python  •  Jupyter / Colab  •  pandas  •  NumPy  •  scikit-learn  •  Matplotlib / Seaborn</a:t>
            </a:r>
            <a:endParaRPr lang="en-US" sz="1000" dirty="0"/>
          </a:p>
        </p:txBody>
      </p:sp>
      <p:sp>
        <p:nvSpPr>
          <p:cNvPr id="50" name="Text 48"/>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Healthcare Infrastructure Gap Index (HIGI)</a:t>
            </a:r>
            <a:endParaRPr lang="en-US" sz="900" dirty="0"/>
          </a:p>
        </p:txBody>
      </p:sp>
      <p:sp>
        <p:nvSpPr>
          <p:cNvPr id="51" name="Text 49"/>
          <p:cNvSpPr txBox="1"/>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a:solidFill>
                  <a:srgbClr val="21295C"/>
                </a:solidFill>
                <a:latin typeface="Cambria" pitchFamily="34" charset="0"/>
                <a:ea typeface="Cambria" pitchFamily="34" charset="-122"/>
                <a:cs typeface="Cambria" pitchFamily="34" charset="-120"/>
              </a:rPr>
              <a:t>Model Building</a:t>
            </a:r>
            <a:endParaRPr lang="en-US" sz="3000" dirty="0"/>
          </a:p>
        </p:txBody>
      </p:sp>
      <p:sp>
        <p:nvSpPr>
          <p:cNvPr id="25" name="Text 23"/>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Healthcare Infrastructure Gap Index (HIGI)</a:t>
            </a:r>
            <a:endParaRPr lang="en-US" sz="900" dirty="0"/>
          </a:p>
        </p:txBody>
      </p:sp>
      <p:sp>
        <p:nvSpPr>
          <p:cNvPr id="26" name="Text 24"/>
          <p:cNvSpPr txBox="1"/>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
        <p:nvSpPr>
          <p:cNvPr id="27" name="Shape 1">
            <a:extLst>
              <a:ext uri="{FF2B5EF4-FFF2-40B4-BE49-F238E27FC236}">
                <a16:creationId xmlns:a16="http://schemas.microsoft.com/office/drawing/2014/main" id="{404BE814-C211-FAF4-86D4-0FBB0282E09A}"/>
              </a:ext>
            </a:extLst>
          </p:cNvPr>
          <p:cNvSpPr/>
          <p:nvPr/>
        </p:nvSpPr>
        <p:spPr>
          <a:xfrm>
            <a:off x="457200" y="1188720"/>
            <a:ext cx="3606698" cy="5543972"/>
          </a:xfrm>
          <a:prstGeom prst="roundRect">
            <a:avLst>
              <a:gd name="adj" fmla="val 1521"/>
            </a:avLst>
          </a:prstGeom>
          <a:solidFill>
            <a:srgbClr val="FFFFFF"/>
          </a:solidFill>
          <a:ln w="12700">
            <a:solidFill>
              <a:srgbClr val="D6DFE6"/>
            </a:solidFill>
            <a:prstDash val="solid"/>
          </a:ln>
        </p:spPr>
        <p:txBody>
          <a:bodyPr/>
          <a:lstStyle/>
          <a:p>
            <a:endParaRPr lang="en-US"/>
          </a:p>
        </p:txBody>
      </p:sp>
      <p:sp>
        <p:nvSpPr>
          <p:cNvPr id="28" name="Shape 2">
            <a:extLst>
              <a:ext uri="{FF2B5EF4-FFF2-40B4-BE49-F238E27FC236}">
                <a16:creationId xmlns:a16="http://schemas.microsoft.com/office/drawing/2014/main" id="{3B18A1A0-5484-27FE-6DFE-6BE9DC785867}"/>
              </a:ext>
            </a:extLst>
          </p:cNvPr>
          <p:cNvSpPr/>
          <p:nvPr/>
        </p:nvSpPr>
        <p:spPr>
          <a:xfrm>
            <a:off x="457200" y="1188720"/>
            <a:ext cx="3606698" cy="457200"/>
          </a:xfrm>
          <a:prstGeom prst="rect">
            <a:avLst/>
          </a:prstGeom>
          <a:solidFill>
            <a:srgbClr val="065A82"/>
          </a:solidFill>
          <a:ln/>
        </p:spPr>
        <p:txBody>
          <a:bodyPr/>
          <a:lstStyle/>
          <a:p>
            <a:endParaRPr lang="en-US"/>
          </a:p>
        </p:txBody>
      </p:sp>
      <p:sp>
        <p:nvSpPr>
          <p:cNvPr id="29" name="Text 3">
            <a:extLst>
              <a:ext uri="{FF2B5EF4-FFF2-40B4-BE49-F238E27FC236}">
                <a16:creationId xmlns:a16="http://schemas.microsoft.com/office/drawing/2014/main" id="{7591686B-5578-F3AC-49AB-A073EAE3AE09}"/>
              </a:ext>
            </a:extLst>
          </p:cNvPr>
          <p:cNvSpPr txBox="1"/>
          <p:nvPr/>
        </p:nvSpPr>
        <p:spPr>
          <a:xfrm>
            <a:off x="640080" y="1188720"/>
            <a:ext cx="3240938"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1 · HIGI Construction</a:t>
            </a:r>
            <a:endParaRPr lang="en-US" sz="1300" dirty="0"/>
          </a:p>
        </p:txBody>
      </p:sp>
      <p:sp>
        <p:nvSpPr>
          <p:cNvPr id="30" name="Text 4">
            <a:extLst>
              <a:ext uri="{FF2B5EF4-FFF2-40B4-BE49-F238E27FC236}">
                <a16:creationId xmlns:a16="http://schemas.microsoft.com/office/drawing/2014/main" id="{0845F90A-ADD3-9198-EA8B-E3F66F2E4BC8}"/>
              </a:ext>
            </a:extLst>
          </p:cNvPr>
          <p:cNvSpPr txBox="1"/>
          <p:nvPr/>
        </p:nvSpPr>
        <p:spPr>
          <a:xfrm>
            <a:off x="640080" y="1683639"/>
            <a:ext cx="3240938" cy="945261"/>
          </a:xfrm>
          <a:prstGeom prst="rect">
            <a:avLst/>
          </a:prstGeom>
          <a:noFill/>
          <a:ln/>
        </p:spPr>
        <p:txBody>
          <a:bodyPr wrap="square" lIns="0" tIns="0" rIns="0" bIns="0" rtlCol="0" anchor="ctr"/>
          <a:lstStyle/>
          <a:p>
            <a:pPr marL="0" indent="0">
              <a:lnSpc>
                <a:spcPct val="105000"/>
              </a:lnSpc>
              <a:buNone/>
            </a:pPr>
            <a:r>
              <a:rPr lang="en-US" sz="1000" b="1" dirty="0">
                <a:solidFill>
                  <a:srgbClr val="1B2A3A"/>
                </a:solidFill>
                <a:latin typeface="Calibri" pitchFamily="34" charset="0"/>
                <a:ea typeface="Calibri" pitchFamily="34" charset="-122"/>
                <a:cs typeface="Calibri" pitchFamily="34" charset="-120"/>
              </a:rPr>
              <a:t>Five infrastructure indicators — 20% each:</a:t>
            </a:r>
            <a:endParaRPr lang="en-US" sz="1000" dirty="0"/>
          </a:p>
          <a:p>
            <a:pPr marL="171450" indent="-171450">
              <a:lnSpc>
                <a:spcPct val="105000"/>
              </a:lnSpc>
              <a:buSzPct val="100000"/>
              <a:buFont typeface="Arial" panose="020B0604020202020204" pitchFamily="34" charset="0"/>
              <a:buChar char="•"/>
            </a:pPr>
            <a:r>
              <a:rPr lang="en-US" sz="1000" dirty="0">
                <a:solidFill>
                  <a:srgbClr val="1B2A3A"/>
                </a:solidFill>
                <a:latin typeface="Calibri" pitchFamily="34" charset="0"/>
                <a:ea typeface="Calibri" pitchFamily="34" charset="-122"/>
                <a:cs typeface="Calibri" pitchFamily="34" charset="-120"/>
              </a:rPr>
              <a:t>Sub-Centres </a:t>
            </a:r>
            <a:r>
              <a:rPr lang="en-US" sz="1000">
                <a:solidFill>
                  <a:srgbClr val="1B2A3A"/>
                </a:solidFill>
                <a:latin typeface="Calibri" pitchFamily="34" charset="0"/>
                <a:ea typeface="Calibri" pitchFamily="34" charset="-122"/>
                <a:cs typeface="Calibri" pitchFamily="34" charset="-120"/>
              </a:rPr>
              <a:t>/ 100k</a:t>
            </a:r>
            <a:endParaRPr lang="en-US" sz="1000" dirty="0"/>
          </a:p>
          <a:p>
            <a:pPr marL="171450" indent="-171450">
              <a:lnSpc>
                <a:spcPct val="105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PHCs / 100k</a:t>
            </a:r>
            <a:endParaRPr lang="en-US" sz="1000" dirty="0"/>
          </a:p>
          <a:p>
            <a:pPr marL="171450" indent="-171450">
              <a:lnSpc>
                <a:spcPct val="105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CHCs / 100k</a:t>
            </a:r>
            <a:endParaRPr lang="en-US" sz="1000" dirty="0"/>
          </a:p>
          <a:p>
            <a:pPr marL="171450" indent="-171450">
              <a:lnSpc>
                <a:spcPct val="105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Sub-Divisional </a:t>
            </a:r>
            <a:r>
              <a:rPr lang="en-US" sz="1000" dirty="0">
                <a:solidFill>
                  <a:srgbClr val="1B2A3A"/>
                </a:solidFill>
                <a:latin typeface="Calibri" pitchFamily="34" charset="0"/>
                <a:ea typeface="Calibri" pitchFamily="34" charset="-122"/>
                <a:cs typeface="Calibri" pitchFamily="34" charset="-120"/>
              </a:rPr>
              <a:t>Hospitals </a:t>
            </a:r>
            <a:r>
              <a:rPr lang="en-US" sz="1000">
                <a:solidFill>
                  <a:srgbClr val="1B2A3A"/>
                </a:solidFill>
                <a:latin typeface="Calibri" pitchFamily="34" charset="0"/>
                <a:ea typeface="Calibri" pitchFamily="34" charset="-122"/>
                <a:cs typeface="Calibri" pitchFamily="34" charset="-120"/>
              </a:rPr>
              <a:t>/ 100k</a:t>
            </a:r>
            <a:endParaRPr lang="en-US" sz="1000" dirty="0"/>
          </a:p>
          <a:p>
            <a:pPr marL="171450" indent="-171450">
              <a:lnSpc>
                <a:spcPct val="105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District </a:t>
            </a:r>
            <a:r>
              <a:rPr lang="en-US" sz="1000" dirty="0">
                <a:solidFill>
                  <a:srgbClr val="1B2A3A"/>
                </a:solidFill>
                <a:latin typeface="Calibri" pitchFamily="34" charset="0"/>
                <a:ea typeface="Calibri" pitchFamily="34" charset="-122"/>
                <a:cs typeface="Calibri" pitchFamily="34" charset="-120"/>
              </a:rPr>
              <a:t>Hospitals / 100k</a:t>
            </a:r>
            <a:endParaRPr lang="en-US" sz="1000" dirty="0"/>
          </a:p>
        </p:txBody>
      </p:sp>
      <p:sp>
        <p:nvSpPr>
          <p:cNvPr id="31" name="Text 5">
            <a:extLst>
              <a:ext uri="{FF2B5EF4-FFF2-40B4-BE49-F238E27FC236}">
                <a16:creationId xmlns:a16="http://schemas.microsoft.com/office/drawing/2014/main" id="{A5B19675-3E0A-02A5-9984-BF71D9C35A14}"/>
              </a:ext>
            </a:extLst>
          </p:cNvPr>
          <p:cNvSpPr txBox="1"/>
          <p:nvPr/>
        </p:nvSpPr>
        <p:spPr>
          <a:xfrm>
            <a:off x="640080" y="2698327"/>
            <a:ext cx="3240938" cy="457200"/>
          </a:xfrm>
          <a:prstGeom prst="rect">
            <a:avLst/>
          </a:prstGeom>
          <a:noFill/>
          <a:ln/>
        </p:spPr>
        <p:txBody>
          <a:bodyPr wrap="square" lIns="0" tIns="0" rIns="0" bIns="0" rtlCol="0" anchor="ctr"/>
          <a:lstStyle/>
          <a:p>
            <a:pPr marL="0" indent="0">
              <a:lnSpc>
                <a:spcPct val="105000"/>
              </a:lnSpc>
              <a:buNone/>
            </a:pPr>
            <a:r>
              <a:rPr lang="en-US" sz="950" i="1" dirty="0">
                <a:solidFill>
                  <a:srgbClr val="1C7293"/>
                </a:solidFill>
                <a:latin typeface="Calibri" pitchFamily="34" charset="0"/>
                <a:ea typeface="Calibri" pitchFamily="34" charset="-122"/>
                <a:cs typeface="Calibri" pitchFamily="34" charset="-120"/>
              </a:rPr>
              <a:t>1st/99th pct. clipping → Min-Max normalization → Direction reversal → Composite HIGI</a:t>
            </a:r>
            <a:endParaRPr lang="en-US" sz="950" dirty="0"/>
          </a:p>
        </p:txBody>
      </p:sp>
      <p:sp>
        <p:nvSpPr>
          <p:cNvPr id="32" name="Shape 6">
            <a:extLst>
              <a:ext uri="{FF2B5EF4-FFF2-40B4-BE49-F238E27FC236}">
                <a16:creationId xmlns:a16="http://schemas.microsoft.com/office/drawing/2014/main" id="{77AB4C1B-953B-E554-439A-F226A78D08A1}"/>
              </a:ext>
            </a:extLst>
          </p:cNvPr>
          <p:cNvSpPr/>
          <p:nvPr/>
        </p:nvSpPr>
        <p:spPr>
          <a:xfrm>
            <a:off x="640385" y="3192187"/>
            <a:ext cx="3240938" cy="365760"/>
          </a:xfrm>
          <a:prstGeom prst="roundRect">
            <a:avLst>
              <a:gd name="adj" fmla="val 12500"/>
            </a:avLst>
          </a:prstGeom>
          <a:solidFill>
            <a:srgbClr val="9FD8CB"/>
          </a:solidFill>
          <a:ln/>
        </p:spPr>
        <p:txBody>
          <a:bodyPr/>
          <a:lstStyle/>
          <a:p>
            <a:endParaRPr lang="en-US"/>
          </a:p>
        </p:txBody>
      </p:sp>
      <p:sp>
        <p:nvSpPr>
          <p:cNvPr id="33" name="Text 7">
            <a:extLst>
              <a:ext uri="{FF2B5EF4-FFF2-40B4-BE49-F238E27FC236}">
                <a16:creationId xmlns:a16="http://schemas.microsoft.com/office/drawing/2014/main" id="{89981447-AB12-D1D9-0E70-A373720FE2FD}"/>
              </a:ext>
            </a:extLst>
          </p:cNvPr>
          <p:cNvSpPr txBox="1"/>
          <p:nvPr/>
        </p:nvSpPr>
        <p:spPr>
          <a:xfrm>
            <a:off x="731825" y="3192187"/>
            <a:ext cx="3058058" cy="365760"/>
          </a:xfrm>
          <a:prstGeom prst="rect">
            <a:avLst/>
          </a:prstGeom>
          <a:noFill/>
          <a:ln/>
        </p:spPr>
        <p:txBody>
          <a:bodyPr wrap="square" lIns="0" tIns="0" rIns="0" bIns="0" rtlCol="0" anchor="ctr"/>
          <a:lstStyle/>
          <a:p>
            <a:pPr marL="0" indent="0">
              <a:buNone/>
            </a:pPr>
            <a:r>
              <a:rPr lang="en-US" sz="950" b="1" dirty="0">
                <a:solidFill>
                  <a:srgbClr val="002060"/>
                </a:solidFill>
                <a:latin typeface="Calibri" pitchFamily="34" charset="0"/>
                <a:ea typeface="Calibri" pitchFamily="34" charset="-122"/>
                <a:cs typeface="Calibri" pitchFamily="34" charset="-120"/>
              </a:rPr>
              <a:t>Higher HIGI = larger relative infrastructure gap</a:t>
            </a:r>
            <a:endParaRPr lang="en-US" sz="950" dirty="0">
              <a:solidFill>
                <a:srgbClr val="002060"/>
              </a:solidFill>
            </a:endParaRPr>
          </a:p>
        </p:txBody>
      </p:sp>
      <p:sp>
        <p:nvSpPr>
          <p:cNvPr id="34" name="Shape 8">
            <a:extLst>
              <a:ext uri="{FF2B5EF4-FFF2-40B4-BE49-F238E27FC236}">
                <a16:creationId xmlns:a16="http://schemas.microsoft.com/office/drawing/2014/main" id="{8173FB85-3612-7C18-B2DF-96FDE1B8DC08}"/>
              </a:ext>
            </a:extLst>
          </p:cNvPr>
          <p:cNvSpPr/>
          <p:nvPr/>
        </p:nvSpPr>
        <p:spPr>
          <a:xfrm>
            <a:off x="640385" y="3649387"/>
            <a:ext cx="3240938" cy="566928"/>
          </a:xfrm>
          <a:prstGeom prst="roundRect">
            <a:avLst>
              <a:gd name="adj" fmla="val 8065"/>
            </a:avLst>
          </a:prstGeom>
          <a:solidFill>
            <a:srgbClr val="065A82"/>
          </a:solidFill>
          <a:ln/>
        </p:spPr>
        <p:txBody>
          <a:bodyPr/>
          <a:lstStyle/>
          <a:p>
            <a:endParaRPr lang="en-US"/>
          </a:p>
        </p:txBody>
      </p:sp>
      <p:sp>
        <p:nvSpPr>
          <p:cNvPr id="35" name="Text 9">
            <a:extLst>
              <a:ext uri="{FF2B5EF4-FFF2-40B4-BE49-F238E27FC236}">
                <a16:creationId xmlns:a16="http://schemas.microsoft.com/office/drawing/2014/main" id="{05205CAD-355F-A4C7-848E-9E7410F1DBD3}"/>
              </a:ext>
            </a:extLst>
          </p:cNvPr>
          <p:cNvSpPr txBox="1"/>
          <p:nvPr/>
        </p:nvSpPr>
        <p:spPr>
          <a:xfrm>
            <a:off x="731825" y="3649387"/>
            <a:ext cx="3058058" cy="566928"/>
          </a:xfrm>
          <a:prstGeom prst="rect">
            <a:avLst/>
          </a:prstGeom>
          <a:noFill/>
          <a:ln/>
        </p:spPr>
        <p:txBody>
          <a:bodyPr wrap="square" lIns="0" tIns="0" rIns="0" bIns="0" rtlCol="0" anchor="ctr"/>
          <a:lstStyle/>
          <a:p>
            <a:pPr marL="0" indent="0">
              <a:lnSpc>
                <a:spcPct val="115000"/>
              </a:lnSpc>
              <a:buNone/>
            </a:pPr>
            <a:r>
              <a:rPr lang="en-US" sz="1050" b="1" dirty="0">
                <a:solidFill>
                  <a:srgbClr val="FFFFFF"/>
                </a:solidFill>
                <a:latin typeface="Calibri" pitchFamily="34" charset="0"/>
                <a:ea typeface="Calibri" pitchFamily="34" charset="-122"/>
                <a:cs typeface="Calibri" pitchFamily="34" charset="-120"/>
              </a:rPr>
              <a:t>Why HIGI?</a:t>
            </a:r>
            <a:endParaRPr lang="en-US" sz="1050" dirty="0"/>
          </a:p>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Transparent • Comparable • Population-normalized</a:t>
            </a:r>
            <a:endParaRPr lang="en-US" sz="1050" dirty="0"/>
          </a:p>
        </p:txBody>
      </p:sp>
      <p:sp>
        <p:nvSpPr>
          <p:cNvPr id="36" name="Shape 10">
            <a:extLst>
              <a:ext uri="{FF2B5EF4-FFF2-40B4-BE49-F238E27FC236}">
                <a16:creationId xmlns:a16="http://schemas.microsoft.com/office/drawing/2014/main" id="{328DE72C-59C9-BD1F-9CF9-ECB3A5E1C1FB}"/>
              </a:ext>
            </a:extLst>
          </p:cNvPr>
          <p:cNvSpPr/>
          <p:nvPr/>
        </p:nvSpPr>
        <p:spPr>
          <a:xfrm>
            <a:off x="4292498" y="1188719"/>
            <a:ext cx="3606698" cy="5543973"/>
          </a:xfrm>
          <a:prstGeom prst="roundRect">
            <a:avLst>
              <a:gd name="adj" fmla="val 1521"/>
            </a:avLst>
          </a:prstGeom>
          <a:solidFill>
            <a:srgbClr val="FFFFFF"/>
          </a:solidFill>
          <a:ln w="12700">
            <a:solidFill>
              <a:srgbClr val="D6DFE6"/>
            </a:solidFill>
            <a:prstDash val="solid"/>
          </a:ln>
        </p:spPr>
        <p:txBody>
          <a:bodyPr/>
          <a:lstStyle/>
          <a:p>
            <a:endParaRPr lang="en-US"/>
          </a:p>
        </p:txBody>
      </p:sp>
      <p:sp>
        <p:nvSpPr>
          <p:cNvPr id="37" name="Shape 11">
            <a:extLst>
              <a:ext uri="{FF2B5EF4-FFF2-40B4-BE49-F238E27FC236}">
                <a16:creationId xmlns:a16="http://schemas.microsoft.com/office/drawing/2014/main" id="{7C416098-0BE8-6059-02B5-FAE23C175719}"/>
              </a:ext>
            </a:extLst>
          </p:cNvPr>
          <p:cNvSpPr/>
          <p:nvPr/>
        </p:nvSpPr>
        <p:spPr>
          <a:xfrm>
            <a:off x="4292498" y="1188720"/>
            <a:ext cx="3606698" cy="457200"/>
          </a:xfrm>
          <a:prstGeom prst="rect">
            <a:avLst/>
          </a:prstGeom>
          <a:solidFill>
            <a:srgbClr val="1C7293"/>
          </a:solidFill>
          <a:ln/>
        </p:spPr>
        <p:txBody>
          <a:bodyPr/>
          <a:lstStyle/>
          <a:p>
            <a:endParaRPr lang="en-US"/>
          </a:p>
        </p:txBody>
      </p:sp>
      <p:sp>
        <p:nvSpPr>
          <p:cNvPr id="38" name="Text 12">
            <a:extLst>
              <a:ext uri="{FF2B5EF4-FFF2-40B4-BE49-F238E27FC236}">
                <a16:creationId xmlns:a16="http://schemas.microsoft.com/office/drawing/2014/main" id="{69A9917F-526B-5B64-6A26-6F64A3B09EDC}"/>
              </a:ext>
            </a:extLst>
          </p:cNvPr>
          <p:cNvSpPr txBox="1"/>
          <p:nvPr/>
        </p:nvSpPr>
        <p:spPr>
          <a:xfrm>
            <a:off x="4475378" y="1188720"/>
            <a:ext cx="3240938"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2 · District Profiling</a:t>
            </a:r>
            <a:endParaRPr lang="en-US" sz="1300" dirty="0"/>
          </a:p>
        </p:txBody>
      </p:sp>
      <p:sp>
        <p:nvSpPr>
          <p:cNvPr id="39" name="Text 13">
            <a:extLst>
              <a:ext uri="{FF2B5EF4-FFF2-40B4-BE49-F238E27FC236}">
                <a16:creationId xmlns:a16="http://schemas.microsoft.com/office/drawing/2014/main" id="{3036B3C0-B93C-1C6E-F21A-C38A3D273D50}"/>
              </a:ext>
            </a:extLst>
          </p:cNvPr>
          <p:cNvSpPr txBox="1"/>
          <p:nvPr/>
        </p:nvSpPr>
        <p:spPr>
          <a:xfrm>
            <a:off x="4473397" y="1684951"/>
            <a:ext cx="3240938" cy="603165"/>
          </a:xfrm>
          <a:prstGeom prst="rect">
            <a:avLst/>
          </a:prstGeom>
          <a:noFill/>
          <a:ln/>
        </p:spPr>
        <p:txBody>
          <a:bodyPr wrap="square" lIns="0" tIns="0" rIns="0" bIns="0" rtlCol="0" anchor="ctr"/>
          <a:lstStyle/>
          <a:p>
            <a:pPr marL="0" indent="0">
              <a:lnSpc>
                <a:spcPct val="110000"/>
              </a:lnSpc>
              <a:buNone/>
            </a:pPr>
            <a:r>
              <a:rPr lang="en-US" sz="1000" b="1" dirty="0">
                <a:solidFill>
                  <a:srgbClr val="1B2A3A"/>
                </a:solidFill>
                <a:latin typeface="Calibri" pitchFamily="34" charset="0"/>
                <a:ea typeface="Calibri" pitchFamily="34" charset="-122"/>
                <a:cs typeface="Calibri" pitchFamily="34" charset="-120"/>
              </a:rPr>
              <a:t>K-Means Clustering</a:t>
            </a:r>
            <a:endParaRPr lang="en-US" sz="1000" dirty="0"/>
          </a:p>
          <a:p>
            <a:pPr marL="171450" indent="-171450">
              <a:lnSpc>
                <a:spcPct val="110000"/>
              </a:lnSpc>
              <a:buSzPct val="100000"/>
              <a:buFont typeface="Arial" panose="020B0604020202020204" pitchFamily="34" charset="0"/>
              <a:buChar char="•"/>
            </a:pPr>
            <a:r>
              <a:rPr lang="en-US" sz="1000" dirty="0">
                <a:solidFill>
                  <a:srgbClr val="1B2A3A"/>
                </a:solidFill>
                <a:latin typeface="Calibri" pitchFamily="34" charset="0"/>
                <a:ea typeface="Calibri" pitchFamily="34" charset="-122"/>
                <a:cs typeface="Calibri" pitchFamily="34" charset="-120"/>
              </a:rPr>
              <a:t>K evaluated: 2–8 → selected K </a:t>
            </a:r>
            <a:r>
              <a:rPr lang="en-US" sz="1000">
                <a:solidFill>
                  <a:srgbClr val="1B2A3A"/>
                </a:solidFill>
                <a:latin typeface="Calibri" pitchFamily="34" charset="0"/>
                <a:ea typeface="Calibri" pitchFamily="34" charset="-122"/>
                <a:cs typeface="Calibri" pitchFamily="34" charset="-120"/>
              </a:rPr>
              <a:t>= 3</a:t>
            </a:r>
            <a:endParaRPr lang="en-US" sz="1000" dirty="0"/>
          </a:p>
          <a:p>
            <a:pPr marL="171450" indent="-171450">
              <a:lnSpc>
                <a:spcPct val="110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StandardScaler applied</a:t>
            </a:r>
            <a:endParaRPr lang="en-US" sz="1000" dirty="0"/>
          </a:p>
          <a:p>
            <a:pPr marL="171450" indent="-171450">
              <a:lnSpc>
                <a:spcPct val="110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PCA </a:t>
            </a:r>
            <a:r>
              <a:rPr lang="en-US" sz="1000" dirty="0">
                <a:solidFill>
                  <a:srgbClr val="1B2A3A"/>
                </a:solidFill>
                <a:latin typeface="Calibri" pitchFamily="34" charset="0"/>
                <a:ea typeface="Calibri" pitchFamily="34" charset="-122"/>
                <a:cs typeface="Calibri" pitchFamily="34" charset="-120"/>
              </a:rPr>
              <a:t>used only for visualization</a:t>
            </a:r>
            <a:endParaRPr lang="en-US" sz="1000" dirty="0"/>
          </a:p>
        </p:txBody>
      </p:sp>
      <p:sp>
        <p:nvSpPr>
          <p:cNvPr id="40" name="Text 14">
            <a:extLst>
              <a:ext uri="{FF2B5EF4-FFF2-40B4-BE49-F238E27FC236}">
                <a16:creationId xmlns:a16="http://schemas.microsoft.com/office/drawing/2014/main" id="{0B78B2D4-C5B4-1785-53DC-3029E040C7E9}"/>
              </a:ext>
            </a:extLst>
          </p:cNvPr>
          <p:cNvSpPr txBox="1"/>
          <p:nvPr/>
        </p:nvSpPr>
        <p:spPr>
          <a:xfrm>
            <a:off x="4473397" y="2628900"/>
            <a:ext cx="3240938" cy="457200"/>
          </a:xfrm>
          <a:prstGeom prst="rect">
            <a:avLst/>
          </a:prstGeom>
          <a:noFill/>
          <a:ln/>
        </p:spPr>
        <p:txBody>
          <a:bodyPr wrap="square" lIns="0" tIns="0" rIns="0" bIns="0" rtlCol="0" anchor="ctr"/>
          <a:lstStyle/>
          <a:p>
            <a:pPr marL="0" indent="0">
              <a:buNone/>
            </a:pPr>
            <a:r>
              <a:rPr lang="en-US" sz="1050" b="1">
                <a:solidFill>
                  <a:srgbClr val="21295C"/>
                </a:solidFill>
                <a:latin typeface="Calibri" pitchFamily="34" charset="0"/>
                <a:ea typeface="Calibri" pitchFamily="34" charset="-122"/>
                <a:cs typeface="Calibri" pitchFamily="34" charset="-120"/>
              </a:rPr>
              <a:t>Validation</a:t>
            </a:r>
          </a:p>
          <a:p>
            <a:pPr>
              <a:lnSpc>
                <a:spcPct val="110000"/>
              </a:lnSpc>
            </a:pPr>
            <a:r>
              <a:rPr lang="en-US" sz="1050">
                <a:solidFill>
                  <a:srgbClr val="1B2A3A"/>
                </a:solidFill>
                <a:latin typeface="Calibri" pitchFamily="34" charset="0"/>
                <a:ea typeface="Calibri" pitchFamily="34" charset="-122"/>
                <a:cs typeface="Calibri" pitchFamily="34" charset="-120"/>
              </a:rPr>
              <a:t>Silhouette = 0.2018</a:t>
            </a:r>
            <a:endParaRPr lang="en-US" sz="1050"/>
          </a:p>
          <a:p>
            <a:pPr>
              <a:lnSpc>
                <a:spcPct val="110000"/>
              </a:lnSpc>
            </a:pPr>
            <a:r>
              <a:rPr lang="en-US" sz="1050">
                <a:solidFill>
                  <a:srgbClr val="1B2A3A"/>
                </a:solidFill>
                <a:latin typeface="Calibri" pitchFamily="34" charset="0"/>
                <a:ea typeface="Calibri" pitchFamily="34" charset="-122"/>
                <a:cs typeface="Calibri" pitchFamily="34" charset="-120"/>
              </a:rPr>
              <a:t>Davies–Bouldin = 1.6442</a:t>
            </a:r>
            <a:endParaRPr lang="en-US" sz="1050"/>
          </a:p>
          <a:p>
            <a:pPr marL="0" indent="0">
              <a:buNone/>
            </a:pPr>
            <a:endParaRPr lang="en-US" sz="1050" dirty="0"/>
          </a:p>
        </p:txBody>
      </p:sp>
      <p:sp>
        <p:nvSpPr>
          <p:cNvPr id="41" name="Text 15">
            <a:extLst>
              <a:ext uri="{FF2B5EF4-FFF2-40B4-BE49-F238E27FC236}">
                <a16:creationId xmlns:a16="http://schemas.microsoft.com/office/drawing/2014/main" id="{882CD9F3-21C4-4B22-5BCB-4D22BCE6D2B8}"/>
              </a:ext>
            </a:extLst>
          </p:cNvPr>
          <p:cNvSpPr txBox="1"/>
          <p:nvPr/>
        </p:nvSpPr>
        <p:spPr>
          <a:xfrm>
            <a:off x="4475378" y="3108960"/>
            <a:ext cx="3240938" cy="457200"/>
          </a:xfrm>
          <a:prstGeom prst="rect">
            <a:avLst/>
          </a:prstGeom>
          <a:noFill/>
          <a:ln/>
        </p:spPr>
        <p:txBody>
          <a:bodyPr wrap="square" lIns="0" tIns="0" rIns="0" bIns="0" rtlCol="0" anchor="ctr"/>
          <a:lstStyle/>
          <a:p>
            <a:pPr marL="0" indent="0">
              <a:lnSpc>
                <a:spcPct val="110000"/>
              </a:lnSpc>
              <a:buNone/>
            </a:pPr>
            <a:endParaRPr lang="en-US" sz="1050" dirty="0"/>
          </a:p>
        </p:txBody>
      </p:sp>
      <p:sp>
        <p:nvSpPr>
          <p:cNvPr id="43" name="Shape 17">
            <a:extLst>
              <a:ext uri="{FF2B5EF4-FFF2-40B4-BE49-F238E27FC236}">
                <a16:creationId xmlns:a16="http://schemas.microsoft.com/office/drawing/2014/main" id="{209DAB8A-E0DD-E657-ECED-767732BC7C29}"/>
              </a:ext>
            </a:extLst>
          </p:cNvPr>
          <p:cNvSpPr/>
          <p:nvPr/>
        </p:nvSpPr>
        <p:spPr>
          <a:xfrm>
            <a:off x="4447945" y="3684081"/>
            <a:ext cx="3240938" cy="566928"/>
          </a:xfrm>
          <a:prstGeom prst="roundRect">
            <a:avLst>
              <a:gd name="adj" fmla="val 8065"/>
            </a:avLst>
          </a:prstGeom>
          <a:solidFill>
            <a:srgbClr val="1C7293"/>
          </a:solidFill>
          <a:ln/>
        </p:spPr>
        <p:txBody>
          <a:bodyPr/>
          <a:lstStyle/>
          <a:p>
            <a:endParaRPr lang="en-US"/>
          </a:p>
        </p:txBody>
      </p:sp>
      <p:sp>
        <p:nvSpPr>
          <p:cNvPr id="44" name="Text 18">
            <a:extLst>
              <a:ext uri="{FF2B5EF4-FFF2-40B4-BE49-F238E27FC236}">
                <a16:creationId xmlns:a16="http://schemas.microsoft.com/office/drawing/2014/main" id="{8E2F3B7F-30A5-DBF0-2C64-C65FD938CCC5}"/>
              </a:ext>
            </a:extLst>
          </p:cNvPr>
          <p:cNvSpPr txBox="1"/>
          <p:nvPr/>
        </p:nvSpPr>
        <p:spPr>
          <a:xfrm>
            <a:off x="4539385" y="3684081"/>
            <a:ext cx="3058058" cy="566928"/>
          </a:xfrm>
          <a:prstGeom prst="rect">
            <a:avLst/>
          </a:prstGeom>
          <a:noFill/>
          <a:ln/>
        </p:spPr>
        <p:txBody>
          <a:bodyPr wrap="square" lIns="0" tIns="0" rIns="0" bIns="0" rtlCol="0" anchor="ctr"/>
          <a:lstStyle/>
          <a:p>
            <a:pPr marL="0" indent="0">
              <a:lnSpc>
                <a:spcPct val="115000"/>
              </a:lnSpc>
              <a:buNone/>
            </a:pPr>
            <a:r>
              <a:rPr lang="en-US" sz="1050" b="1" dirty="0">
                <a:solidFill>
                  <a:srgbClr val="FFFFFF"/>
                </a:solidFill>
                <a:latin typeface="Calibri" pitchFamily="34" charset="0"/>
                <a:ea typeface="Calibri" pitchFamily="34" charset="-122"/>
                <a:cs typeface="Calibri" pitchFamily="34" charset="-120"/>
              </a:rPr>
              <a:t>Why K-Means?</a:t>
            </a:r>
            <a:endParaRPr lang="en-US" sz="1050" dirty="0"/>
          </a:p>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Unsupervised • Numerical data • Interpretable profiles</a:t>
            </a:r>
            <a:endParaRPr lang="en-US" sz="1050" dirty="0"/>
          </a:p>
        </p:txBody>
      </p:sp>
      <p:sp>
        <p:nvSpPr>
          <p:cNvPr id="45" name="Shape 19">
            <a:extLst>
              <a:ext uri="{FF2B5EF4-FFF2-40B4-BE49-F238E27FC236}">
                <a16:creationId xmlns:a16="http://schemas.microsoft.com/office/drawing/2014/main" id="{E92EEB36-8552-D1F2-C0F9-22ADA0378673}"/>
              </a:ext>
            </a:extLst>
          </p:cNvPr>
          <p:cNvSpPr/>
          <p:nvPr/>
        </p:nvSpPr>
        <p:spPr>
          <a:xfrm>
            <a:off x="8127797" y="1188720"/>
            <a:ext cx="3606698" cy="5543972"/>
          </a:xfrm>
          <a:prstGeom prst="roundRect">
            <a:avLst>
              <a:gd name="adj" fmla="val 1521"/>
            </a:avLst>
          </a:prstGeom>
          <a:solidFill>
            <a:srgbClr val="FFFFFF"/>
          </a:solidFill>
          <a:ln w="12700">
            <a:solidFill>
              <a:srgbClr val="D6DFE6"/>
            </a:solidFill>
            <a:prstDash val="solid"/>
          </a:ln>
        </p:spPr>
        <p:txBody>
          <a:bodyPr/>
          <a:lstStyle/>
          <a:p>
            <a:endParaRPr lang="en-US"/>
          </a:p>
        </p:txBody>
      </p:sp>
      <p:sp>
        <p:nvSpPr>
          <p:cNvPr id="46" name="Shape 20">
            <a:extLst>
              <a:ext uri="{FF2B5EF4-FFF2-40B4-BE49-F238E27FC236}">
                <a16:creationId xmlns:a16="http://schemas.microsoft.com/office/drawing/2014/main" id="{3D1966E4-D29B-4774-2DC5-8EE70B909727}"/>
              </a:ext>
            </a:extLst>
          </p:cNvPr>
          <p:cNvSpPr/>
          <p:nvPr/>
        </p:nvSpPr>
        <p:spPr>
          <a:xfrm>
            <a:off x="8127797" y="1188720"/>
            <a:ext cx="3606698" cy="457200"/>
          </a:xfrm>
          <a:prstGeom prst="rect">
            <a:avLst/>
          </a:prstGeom>
          <a:solidFill>
            <a:srgbClr val="21295C"/>
          </a:solidFill>
          <a:ln/>
        </p:spPr>
        <p:txBody>
          <a:bodyPr/>
          <a:lstStyle/>
          <a:p>
            <a:endParaRPr lang="en-US"/>
          </a:p>
        </p:txBody>
      </p:sp>
      <p:sp>
        <p:nvSpPr>
          <p:cNvPr id="47" name="Text 21">
            <a:extLst>
              <a:ext uri="{FF2B5EF4-FFF2-40B4-BE49-F238E27FC236}">
                <a16:creationId xmlns:a16="http://schemas.microsoft.com/office/drawing/2014/main" id="{9394CCE9-61C5-ECD3-5770-2D16B2173329}"/>
              </a:ext>
            </a:extLst>
          </p:cNvPr>
          <p:cNvSpPr txBox="1"/>
          <p:nvPr/>
        </p:nvSpPr>
        <p:spPr>
          <a:xfrm>
            <a:off x="8310677" y="1188720"/>
            <a:ext cx="3240938"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3 · Predictive Model</a:t>
            </a:r>
            <a:endParaRPr lang="en-US" sz="1300" dirty="0"/>
          </a:p>
        </p:txBody>
      </p:sp>
      <p:sp>
        <p:nvSpPr>
          <p:cNvPr id="48" name="Text 22">
            <a:extLst>
              <a:ext uri="{FF2B5EF4-FFF2-40B4-BE49-F238E27FC236}">
                <a16:creationId xmlns:a16="http://schemas.microsoft.com/office/drawing/2014/main" id="{B7034921-35FE-C3EA-AFB7-2864C33C4B64}"/>
              </a:ext>
            </a:extLst>
          </p:cNvPr>
          <p:cNvSpPr txBox="1"/>
          <p:nvPr/>
        </p:nvSpPr>
        <p:spPr>
          <a:xfrm>
            <a:off x="8310677" y="1755648"/>
            <a:ext cx="3240938" cy="274320"/>
          </a:xfrm>
          <a:prstGeom prst="rect">
            <a:avLst/>
          </a:prstGeom>
          <a:noFill/>
          <a:ln/>
        </p:spPr>
        <p:txBody>
          <a:bodyPr wrap="square" lIns="0" tIns="0" rIns="0" bIns="0" rtlCol="0" anchor="ctr"/>
          <a:lstStyle/>
          <a:p>
            <a:pPr marL="0" indent="0">
              <a:buNone/>
            </a:pPr>
            <a:endParaRPr lang="en-US" sz="1200" dirty="0"/>
          </a:p>
        </p:txBody>
      </p:sp>
      <p:sp>
        <p:nvSpPr>
          <p:cNvPr id="49" name="Text 23">
            <a:extLst>
              <a:ext uri="{FF2B5EF4-FFF2-40B4-BE49-F238E27FC236}">
                <a16:creationId xmlns:a16="http://schemas.microsoft.com/office/drawing/2014/main" id="{244977B6-9009-988E-6830-CE398CE8A556}"/>
              </a:ext>
            </a:extLst>
          </p:cNvPr>
          <p:cNvSpPr txBox="1"/>
          <p:nvPr/>
        </p:nvSpPr>
        <p:spPr>
          <a:xfrm>
            <a:off x="8306714" y="1683639"/>
            <a:ext cx="3240938" cy="848276"/>
          </a:xfrm>
          <a:prstGeom prst="rect">
            <a:avLst/>
          </a:prstGeom>
          <a:noFill/>
          <a:ln/>
        </p:spPr>
        <p:txBody>
          <a:bodyPr wrap="square" lIns="0" tIns="0" rIns="0" bIns="0" rtlCol="0" anchor="ctr"/>
          <a:lstStyle/>
          <a:p>
            <a:pPr>
              <a:lnSpc>
                <a:spcPct val="110000"/>
              </a:lnSpc>
              <a:buSzPct val="100000"/>
            </a:pPr>
            <a:r>
              <a:rPr lang="en-US" sz="1000" b="1">
                <a:solidFill>
                  <a:srgbClr val="21295C"/>
                </a:solidFill>
                <a:latin typeface="Calibri" pitchFamily="34" charset="0"/>
                <a:ea typeface="Calibri" pitchFamily="34" charset="-122"/>
                <a:cs typeface="Calibri" pitchFamily="34" charset="-120"/>
              </a:rPr>
              <a:t>Random Forest Regression</a:t>
            </a:r>
            <a:endParaRPr lang="en-US" sz="1000">
              <a:solidFill>
                <a:srgbClr val="1B2A3A"/>
              </a:solidFill>
              <a:latin typeface="Calibri" pitchFamily="34" charset="0"/>
              <a:ea typeface="Calibri" pitchFamily="34" charset="-122"/>
              <a:cs typeface="Calibri" pitchFamily="34" charset="-120"/>
            </a:endParaRPr>
          </a:p>
          <a:p>
            <a:pPr marL="171450" indent="-171450">
              <a:lnSpc>
                <a:spcPct val="110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Captures non-linear relationships</a:t>
            </a:r>
            <a:endParaRPr lang="en-US" sz="1000" dirty="0"/>
          </a:p>
          <a:p>
            <a:pPr marL="171450" indent="-171450">
              <a:lnSpc>
                <a:spcPct val="110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Handles feature interactions</a:t>
            </a:r>
            <a:endParaRPr lang="en-US" sz="1000" dirty="0"/>
          </a:p>
          <a:p>
            <a:pPr marL="171450" indent="-171450">
              <a:lnSpc>
                <a:spcPct val="110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More </a:t>
            </a:r>
            <a:r>
              <a:rPr lang="en-US" sz="1000" dirty="0">
                <a:solidFill>
                  <a:srgbClr val="1B2A3A"/>
                </a:solidFill>
                <a:latin typeface="Calibri" pitchFamily="34" charset="0"/>
                <a:ea typeface="Calibri" pitchFamily="34" charset="-122"/>
                <a:cs typeface="Calibri" pitchFamily="34" charset="-120"/>
              </a:rPr>
              <a:t>robust than a single </a:t>
            </a:r>
            <a:r>
              <a:rPr lang="en-US" sz="1000">
                <a:solidFill>
                  <a:srgbClr val="1B2A3A"/>
                </a:solidFill>
                <a:latin typeface="Calibri" pitchFamily="34" charset="0"/>
                <a:ea typeface="Calibri" pitchFamily="34" charset="-122"/>
                <a:cs typeface="Calibri" pitchFamily="34" charset="-120"/>
              </a:rPr>
              <a:t>decision tree</a:t>
            </a:r>
            <a:endParaRPr lang="en-US" sz="1000" dirty="0"/>
          </a:p>
          <a:p>
            <a:pPr marL="171450" indent="-171450">
              <a:lnSpc>
                <a:spcPct val="110000"/>
              </a:lnSpc>
              <a:buSzPct val="100000"/>
              <a:buFont typeface="Arial" panose="020B0604020202020204" pitchFamily="34" charset="0"/>
              <a:buChar char="•"/>
            </a:pPr>
            <a:r>
              <a:rPr lang="en-US" sz="1000">
                <a:solidFill>
                  <a:srgbClr val="1B2A3A"/>
                </a:solidFill>
                <a:latin typeface="Calibri" pitchFamily="34" charset="0"/>
                <a:ea typeface="Calibri" pitchFamily="34" charset="-122"/>
                <a:cs typeface="Calibri" pitchFamily="34" charset="-120"/>
              </a:rPr>
              <a:t>Appropriate </a:t>
            </a:r>
            <a:r>
              <a:rPr lang="en-US" sz="1000" dirty="0">
                <a:solidFill>
                  <a:srgbClr val="1B2A3A"/>
                </a:solidFill>
                <a:latin typeface="Calibri" pitchFamily="34" charset="0"/>
                <a:ea typeface="Calibri" pitchFamily="34" charset="-122"/>
                <a:cs typeface="Calibri" pitchFamily="34" charset="-120"/>
              </a:rPr>
              <a:t>for structured/tabular data</a:t>
            </a:r>
            <a:endParaRPr lang="en-US" sz="1000" dirty="0"/>
          </a:p>
        </p:txBody>
      </p:sp>
      <p:sp>
        <p:nvSpPr>
          <p:cNvPr id="52" name="Shape 26">
            <a:extLst>
              <a:ext uri="{FF2B5EF4-FFF2-40B4-BE49-F238E27FC236}">
                <a16:creationId xmlns:a16="http://schemas.microsoft.com/office/drawing/2014/main" id="{FD9D1815-A188-3510-9876-8110B8B51565}"/>
              </a:ext>
            </a:extLst>
          </p:cNvPr>
          <p:cNvSpPr/>
          <p:nvPr/>
        </p:nvSpPr>
        <p:spPr>
          <a:xfrm>
            <a:off x="8284464" y="3677709"/>
            <a:ext cx="3240938" cy="566928"/>
          </a:xfrm>
          <a:prstGeom prst="roundRect">
            <a:avLst>
              <a:gd name="adj" fmla="val 8065"/>
            </a:avLst>
          </a:prstGeom>
          <a:solidFill>
            <a:srgbClr val="21295C"/>
          </a:solidFill>
          <a:ln/>
        </p:spPr>
        <p:txBody>
          <a:bodyPr/>
          <a:lstStyle/>
          <a:p>
            <a:endParaRPr lang="en-US"/>
          </a:p>
        </p:txBody>
      </p:sp>
      <p:sp>
        <p:nvSpPr>
          <p:cNvPr id="53" name="Text 27">
            <a:extLst>
              <a:ext uri="{FF2B5EF4-FFF2-40B4-BE49-F238E27FC236}">
                <a16:creationId xmlns:a16="http://schemas.microsoft.com/office/drawing/2014/main" id="{14006194-7AE2-1E48-BCE3-960ACD280A4D}"/>
              </a:ext>
            </a:extLst>
          </p:cNvPr>
          <p:cNvSpPr txBox="1"/>
          <p:nvPr/>
        </p:nvSpPr>
        <p:spPr>
          <a:xfrm>
            <a:off x="8375904" y="3677709"/>
            <a:ext cx="3058058" cy="566928"/>
          </a:xfrm>
          <a:prstGeom prst="rect">
            <a:avLst/>
          </a:prstGeom>
          <a:noFill/>
          <a:ln/>
        </p:spPr>
        <p:txBody>
          <a:bodyPr wrap="square" lIns="0" tIns="0" rIns="0" bIns="0" rtlCol="0" anchor="ctr"/>
          <a:lstStyle/>
          <a:p>
            <a:pPr marL="0" indent="0">
              <a:lnSpc>
                <a:spcPct val="115000"/>
              </a:lnSpc>
              <a:buNone/>
            </a:pPr>
            <a:r>
              <a:rPr lang="en-US" sz="1050" b="1" dirty="0">
                <a:solidFill>
                  <a:srgbClr val="FFFFFF"/>
                </a:solidFill>
                <a:latin typeface="Calibri" pitchFamily="34" charset="0"/>
                <a:ea typeface="Calibri" pitchFamily="34" charset="-122"/>
                <a:cs typeface="Calibri" pitchFamily="34" charset="-120"/>
              </a:rPr>
              <a:t>Why Random Forest?</a:t>
            </a:r>
            <a:endParaRPr lang="en-US" sz="1050" dirty="0"/>
          </a:p>
          <a:p>
            <a:pPr marL="0" indent="0">
              <a:lnSpc>
                <a:spcPct val="115000"/>
              </a:lnSpc>
              <a:buNone/>
            </a:pPr>
            <a:r>
              <a:rPr lang="en-US" sz="1050">
                <a:solidFill>
                  <a:srgbClr val="FFFFFF"/>
                </a:solidFill>
                <a:latin typeface="Calibri" pitchFamily="34" charset="0"/>
                <a:ea typeface="Calibri" pitchFamily="34" charset="-122"/>
                <a:cs typeface="Calibri" pitchFamily="34" charset="-120"/>
              </a:rPr>
              <a:t>Nonlinear relationships • </a:t>
            </a:r>
            <a:r>
              <a:rPr lang="en-US" sz="1050" dirty="0">
                <a:solidFill>
                  <a:srgbClr val="FFFFFF"/>
                </a:solidFill>
                <a:latin typeface="Calibri" pitchFamily="34" charset="0"/>
                <a:ea typeface="Calibri" pitchFamily="34" charset="-122"/>
                <a:cs typeface="Calibri" pitchFamily="34" charset="-120"/>
              </a:rPr>
              <a:t>Interaction-aware • Robust for tabular data</a:t>
            </a:r>
            <a:endParaRPr lang="en-US" sz="1050" dirty="0"/>
          </a:p>
        </p:txBody>
      </p:sp>
      <p:sp>
        <p:nvSpPr>
          <p:cNvPr id="69" name="Shape 6">
            <a:extLst>
              <a:ext uri="{FF2B5EF4-FFF2-40B4-BE49-F238E27FC236}">
                <a16:creationId xmlns:a16="http://schemas.microsoft.com/office/drawing/2014/main" id="{FE34E280-0C7D-39A1-5741-38FDA149AF49}"/>
              </a:ext>
            </a:extLst>
          </p:cNvPr>
          <p:cNvSpPr/>
          <p:nvPr/>
        </p:nvSpPr>
        <p:spPr>
          <a:xfrm>
            <a:off x="4422495" y="3214963"/>
            <a:ext cx="3240938" cy="365760"/>
          </a:xfrm>
          <a:prstGeom prst="roundRect">
            <a:avLst>
              <a:gd name="adj" fmla="val 12500"/>
            </a:avLst>
          </a:prstGeom>
          <a:solidFill>
            <a:srgbClr val="9FD8CB"/>
          </a:solidFill>
          <a:ln/>
        </p:spPr>
        <p:txBody>
          <a:bodyPr/>
          <a:lstStyle/>
          <a:p>
            <a:endParaRPr lang="en-US"/>
          </a:p>
        </p:txBody>
      </p:sp>
      <p:sp>
        <p:nvSpPr>
          <p:cNvPr id="42" name="Text 16">
            <a:extLst>
              <a:ext uri="{FF2B5EF4-FFF2-40B4-BE49-F238E27FC236}">
                <a16:creationId xmlns:a16="http://schemas.microsoft.com/office/drawing/2014/main" id="{F0927D0A-D9B6-E8F0-9C1A-F5AE549A41DF}"/>
              </a:ext>
            </a:extLst>
          </p:cNvPr>
          <p:cNvSpPr txBox="1"/>
          <p:nvPr/>
        </p:nvSpPr>
        <p:spPr>
          <a:xfrm>
            <a:off x="4513935" y="3155527"/>
            <a:ext cx="3035808" cy="502920"/>
          </a:xfrm>
          <a:prstGeom prst="rect">
            <a:avLst/>
          </a:prstGeom>
          <a:noFill/>
          <a:ln/>
        </p:spPr>
        <p:txBody>
          <a:bodyPr wrap="square" lIns="0" tIns="0" rIns="0" bIns="0" rtlCol="0" anchor="ctr"/>
          <a:lstStyle/>
          <a:p>
            <a:pPr marL="0" indent="0">
              <a:lnSpc>
                <a:spcPct val="110000"/>
              </a:lnSpc>
              <a:buNone/>
            </a:pPr>
            <a:r>
              <a:rPr lang="en-US" sz="950" b="1" dirty="0">
                <a:solidFill>
                  <a:srgbClr val="002060"/>
                </a:solidFill>
                <a:latin typeface="Calibri" pitchFamily="34" charset="0"/>
                <a:ea typeface="Calibri" pitchFamily="34" charset="-122"/>
                <a:cs typeface="Calibri" pitchFamily="34" charset="-120"/>
              </a:rPr>
              <a:t>3 interpretable district profiles identified; cluster separation was moderate.</a:t>
            </a:r>
            <a:endParaRPr lang="en-US" sz="950" b="1" dirty="0">
              <a:solidFill>
                <a:srgbClr val="002060"/>
              </a:solidFill>
            </a:endParaRPr>
          </a:p>
        </p:txBody>
      </p:sp>
      <p:sp>
        <p:nvSpPr>
          <p:cNvPr id="70" name="Shape 6">
            <a:extLst>
              <a:ext uri="{FF2B5EF4-FFF2-40B4-BE49-F238E27FC236}">
                <a16:creationId xmlns:a16="http://schemas.microsoft.com/office/drawing/2014/main" id="{3824DB22-FD1E-72F3-C96A-97CDA829C373}"/>
              </a:ext>
            </a:extLst>
          </p:cNvPr>
          <p:cNvSpPr/>
          <p:nvPr/>
        </p:nvSpPr>
        <p:spPr>
          <a:xfrm>
            <a:off x="8284464" y="3220509"/>
            <a:ext cx="3240938" cy="365760"/>
          </a:xfrm>
          <a:prstGeom prst="roundRect">
            <a:avLst>
              <a:gd name="adj" fmla="val 12500"/>
            </a:avLst>
          </a:prstGeom>
          <a:solidFill>
            <a:srgbClr val="9FD8CB"/>
          </a:solidFill>
          <a:ln/>
        </p:spPr>
        <p:txBody>
          <a:bodyPr/>
          <a:lstStyle/>
          <a:p>
            <a:endParaRPr lang="en-US"/>
          </a:p>
        </p:txBody>
      </p:sp>
      <p:sp>
        <p:nvSpPr>
          <p:cNvPr id="51" name="Text 25">
            <a:extLst>
              <a:ext uri="{FF2B5EF4-FFF2-40B4-BE49-F238E27FC236}">
                <a16:creationId xmlns:a16="http://schemas.microsoft.com/office/drawing/2014/main" id="{5511C89E-C71F-2282-85BC-E8A1485DF784}"/>
              </a:ext>
            </a:extLst>
          </p:cNvPr>
          <p:cNvSpPr txBox="1"/>
          <p:nvPr/>
        </p:nvSpPr>
        <p:spPr>
          <a:xfrm>
            <a:off x="8375904" y="3209079"/>
            <a:ext cx="2849980" cy="388620"/>
          </a:xfrm>
          <a:prstGeom prst="rect">
            <a:avLst/>
          </a:prstGeom>
          <a:noFill/>
          <a:ln/>
        </p:spPr>
        <p:txBody>
          <a:bodyPr wrap="square" lIns="0" tIns="0" rIns="0" bIns="0" rtlCol="0" anchor="ctr"/>
          <a:lstStyle/>
          <a:p>
            <a:pPr marL="0" indent="0">
              <a:lnSpc>
                <a:spcPct val="110000"/>
              </a:lnSpc>
              <a:buNone/>
            </a:pPr>
            <a:r>
              <a:rPr lang="en-US" sz="950" b="1" dirty="0">
                <a:solidFill>
                  <a:srgbClr val="002060"/>
                </a:solidFill>
                <a:latin typeface="Calibri" pitchFamily="34" charset="0"/>
                <a:ea typeface="Calibri" pitchFamily="34" charset="-122"/>
                <a:cs typeface="Calibri" pitchFamily="34" charset="-120"/>
              </a:rPr>
              <a:t>Leakage control: HIGI's five construction indicators excluded from RF predictors.</a:t>
            </a:r>
            <a:endParaRPr lang="en-US" sz="950" b="1" dirty="0">
              <a:solidFill>
                <a:srgbClr val="002060"/>
              </a:solidFill>
            </a:endParaRPr>
          </a:p>
        </p:txBody>
      </p:sp>
      <p:sp>
        <p:nvSpPr>
          <p:cNvPr id="71" name="Rectangle 70">
            <a:extLst>
              <a:ext uri="{FF2B5EF4-FFF2-40B4-BE49-F238E27FC236}">
                <a16:creationId xmlns:a16="http://schemas.microsoft.com/office/drawing/2014/main" id="{8E227762-4CCA-2881-CAF9-DD458DCF4BBF}"/>
              </a:ext>
            </a:extLst>
          </p:cNvPr>
          <p:cNvSpPr/>
          <p:nvPr/>
        </p:nvSpPr>
        <p:spPr>
          <a:xfrm>
            <a:off x="4473396" y="4350387"/>
            <a:ext cx="3240937" cy="227985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2" name="Rectangle 71">
            <a:extLst>
              <a:ext uri="{FF2B5EF4-FFF2-40B4-BE49-F238E27FC236}">
                <a16:creationId xmlns:a16="http://schemas.microsoft.com/office/drawing/2014/main" id="{2A25A657-676B-9490-64CD-369D7DE56E6D}"/>
              </a:ext>
            </a:extLst>
          </p:cNvPr>
          <p:cNvSpPr/>
          <p:nvPr/>
        </p:nvSpPr>
        <p:spPr>
          <a:xfrm>
            <a:off x="8284464" y="4350386"/>
            <a:ext cx="3263188" cy="2187573"/>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26325D87-BD53-76DE-ADFF-8F356A8A10C0}"/>
              </a:ext>
            </a:extLst>
          </p:cNvPr>
          <p:cNvSpPr/>
          <p:nvPr/>
        </p:nvSpPr>
        <p:spPr>
          <a:xfrm>
            <a:off x="640079" y="4350385"/>
            <a:ext cx="3240937" cy="2187573"/>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a:solidFill>
                  <a:srgbClr val="21295C"/>
                </a:solidFill>
                <a:latin typeface="Cambria" pitchFamily="34" charset="0"/>
                <a:ea typeface="Cambria" pitchFamily="34" charset="-122"/>
                <a:cs typeface="Cambria" pitchFamily="34" charset="-120"/>
              </a:rPr>
              <a:t>Results</a:t>
            </a:r>
            <a:endParaRPr lang="en-US" sz="3000" dirty="0"/>
          </a:p>
        </p:txBody>
      </p:sp>
      <p:sp>
        <p:nvSpPr>
          <p:cNvPr id="16" name="Text 13"/>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Healthcare Infrastructure Gap Index (HIGI)</a:t>
            </a:r>
            <a:endParaRPr lang="en-US" sz="900" dirty="0"/>
          </a:p>
        </p:txBody>
      </p:sp>
      <p:sp>
        <p:nvSpPr>
          <p:cNvPr id="17" name="Text 14"/>
          <p:cNvSpPr txBox="1"/>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
        <p:nvSpPr>
          <p:cNvPr id="81" name="Shape 1">
            <a:extLst>
              <a:ext uri="{FF2B5EF4-FFF2-40B4-BE49-F238E27FC236}">
                <a16:creationId xmlns:a16="http://schemas.microsoft.com/office/drawing/2014/main" id="{85FAFA42-E672-7C78-3009-276415E47D4C}"/>
              </a:ext>
            </a:extLst>
          </p:cNvPr>
          <p:cNvSpPr/>
          <p:nvPr/>
        </p:nvSpPr>
        <p:spPr>
          <a:xfrm>
            <a:off x="457200" y="1188720"/>
            <a:ext cx="6675120" cy="4023360"/>
          </a:xfrm>
          <a:prstGeom prst="roundRect">
            <a:avLst>
              <a:gd name="adj" fmla="val 1364"/>
            </a:avLst>
          </a:prstGeom>
          <a:blipFill>
            <a:blip r:embed="rId3"/>
            <a:stretch>
              <a:fillRect/>
            </a:stretch>
          </a:blipFill>
          <a:ln w="12700">
            <a:solidFill>
              <a:srgbClr val="D6DFE6"/>
            </a:solidFill>
            <a:prstDash val="solid"/>
          </a:ln>
        </p:spPr>
        <p:txBody>
          <a:bodyPr/>
          <a:lstStyle/>
          <a:p>
            <a:endParaRPr lang="en-US"/>
          </a:p>
        </p:txBody>
      </p:sp>
      <p:sp>
        <p:nvSpPr>
          <p:cNvPr id="82" name="Shape 50">
            <a:extLst>
              <a:ext uri="{FF2B5EF4-FFF2-40B4-BE49-F238E27FC236}">
                <a16:creationId xmlns:a16="http://schemas.microsoft.com/office/drawing/2014/main" id="{54CB8121-3451-D8CC-B012-BA9792D02228}"/>
              </a:ext>
            </a:extLst>
          </p:cNvPr>
          <p:cNvSpPr/>
          <p:nvPr/>
        </p:nvSpPr>
        <p:spPr>
          <a:xfrm>
            <a:off x="7406640" y="1188720"/>
            <a:ext cx="4327855" cy="1554480"/>
          </a:xfrm>
          <a:prstGeom prst="roundRect">
            <a:avLst>
              <a:gd name="adj" fmla="val 3529"/>
            </a:avLst>
          </a:prstGeom>
          <a:solidFill>
            <a:srgbClr val="FFFFFF"/>
          </a:solidFill>
          <a:ln w="12700">
            <a:solidFill>
              <a:srgbClr val="D6DFE6"/>
            </a:solidFill>
            <a:prstDash val="solid"/>
          </a:ln>
        </p:spPr>
        <p:txBody>
          <a:bodyPr/>
          <a:lstStyle/>
          <a:p>
            <a:endParaRPr lang="en-US"/>
          </a:p>
        </p:txBody>
      </p:sp>
      <p:sp>
        <p:nvSpPr>
          <p:cNvPr id="83" name="Text 51">
            <a:extLst>
              <a:ext uri="{FF2B5EF4-FFF2-40B4-BE49-F238E27FC236}">
                <a16:creationId xmlns:a16="http://schemas.microsoft.com/office/drawing/2014/main" id="{3E886E01-EED2-AB15-10AE-175813DC3494}"/>
              </a:ext>
            </a:extLst>
          </p:cNvPr>
          <p:cNvSpPr txBox="1"/>
          <p:nvPr/>
        </p:nvSpPr>
        <p:spPr>
          <a:xfrm>
            <a:off x="7589520" y="1298448"/>
            <a:ext cx="3962095" cy="237744"/>
          </a:xfrm>
          <a:prstGeom prst="rect">
            <a:avLst/>
          </a:prstGeom>
          <a:noFill/>
          <a:ln/>
        </p:spPr>
        <p:txBody>
          <a:bodyPr wrap="square" lIns="0" tIns="0" rIns="0" bIns="0" rtlCol="0" anchor="ctr"/>
          <a:lstStyle/>
          <a:p>
            <a:pPr marL="0" indent="0">
              <a:buNone/>
            </a:pPr>
            <a:r>
              <a:rPr lang="en-US" sz="950" b="1" kern="0" spc="100" dirty="0">
                <a:solidFill>
                  <a:srgbClr val="065A82"/>
                </a:solidFill>
                <a:latin typeface="Calibri" pitchFamily="34" charset="0"/>
                <a:ea typeface="Calibri" pitchFamily="34" charset="-122"/>
                <a:cs typeface="Calibri" pitchFamily="34" charset="-120"/>
              </a:rPr>
              <a:t>RANDOM FOREST PERFORMANCE</a:t>
            </a:r>
            <a:endParaRPr lang="en-US" sz="950" dirty="0"/>
          </a:p>
        </p:txBody>
      </p:sp>
      <p:graphicFrame>
        <p:nvGraphicFramePr>
          <p:cNvPr id="84" name="Table 0">
            <a:extLst>
              <a:ext uri="{FF2B5EF4-FFF2-40B4-BE49-F238E27FC236}">
                <a16:creationId xmlns:a16="http://schemas.microsoft.com/office/drawing/2014/main" id="{417A06E9-D87D-8DCC-62FE-B6C38D00BC4F}"/>
              </a:ext>
            </a:extLst>
          </p:cNvPr>
          <p:cNvGraphicFramePr>
            <a:graphicFrameLocks noGrp="1"/>
          </p:cNvGraphicFramePr>
          <p:nvPr>
            <p:extLst>
              <p:ext uri="{D42A27DB-BD31-4B8C-83A1-F6EECF244321}">
                <p14:modId xmlns:p14="http://schemas.microsoft.com/office/powerpoint/2010/main" val="3289437031"/>
              </p:ext>
            </p:extLst>
          </p:nvPr>
        </p:nvGraphicFramePr>
        <p:xfrm>
          <a:off x="7543800" y="1572768"/>
          <a:ext cx="3730752" cy="1051560"/>
        </p:xfrm>
        <a:graphic>
          <a:graphicData uri="http://schemas.openxmlformats.org/drawingml/2006/table">
            <a:tbl>
              <a:tblPr/>
              <a:tblGrid>
                <a:gridCol w="1371600">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86384">
                  <a:extLst>
                    <a:ext uri="{9D8B030D-6E8A-4147-A177-3AD203B41FA5}">
                      <a16:colId xmlns:a16="http://schemas.microsoft.com/office/drawing/2014/main" val="20003"/>
                    </a:ext>
                  </a:extLst>
                </a:gridCol>
              </a:tblGrid>
              <a:tr h="26289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21295C"/>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MAE↓</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21295C"/>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RMSE↓</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21295C"/>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R²↑</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262890">
                <a:tc>
                  <a:txBody>
                    <a:bodyPr/>
                    <a:lstStyle/>
                    <a:p>
                      <a:pPr marL="0" indent="0" algn="ctr">
                        <a:buNone/>
                      </a:pPr>
                      <a:r>
                        <a:rPr lang="en-US" sz="950" dirty="0">
                          <a:solidFill>
                            <a:srgbClr val="1B2A3A"/>
                          </a:solidFill>
                          <a:latin typeface="Calibri" pitchFamily="34" charset="0"/>
                          <a:ea typeface="Calibri" pitchFamily="34" charset="-122"/>
                          <a:cs typeface="Calibri" pitchFamily="34" charset="-120"/>
                        </a:rPr>
                        <a:t>Baseline</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E8EFF3"/>
                    </a:solidFill>
                  </a:tcPr>
                </a:tc>
                <a:tc>
                  <a:txBody>
                    <a:bodyPr/>
                    <a:lstStyle/>
                    <a:p>
                      <a:pPr marL="0" indent="0" algn="ctr">
                        <a:buNone/>
                      </a:pPr>
                      <a:r>
                        <a:rPr lang="en-US" sz="950" dirty="0">
                          <a:solidFill>
                            <a:srgbClr val="1B2A3A"/>
                          </a:solidFill>
                          <a:latin typeface="Calibri" pitchFamily="34" charset="0"/>
                          <a:ea typeface="Calibri" pitchFamily="34" charset="-122"/>
                          <a:cs typeface="Calibri" pitchFamily="34" charset="-120"/>
                        </a:rPr>
                        <a:t>0.0990</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E8EFF3"/>
                    </a:solidFill>
                  </a:tcPr>
                </a:tc>
                <a:tc>
                  <a:txBody>
                    <a:bodyPr/>
                    <a:lstStyle/>
                    <a:p>
                      <a:pPr marL="0" indent="0" algn="ctr">
                        <a:buNone/>
                      </a:pPr>
                      <a:r>
                        <a:rPr lang="en-US" sz="950" dirty="0">
                          <a:solidFill>
                            <a:srgbClr val="1B2A3A"/>
                          </a:solidFill>
                          <a:latin typeface="Calibri" pitchFamily="34" charset="0"/>
                          <a:ea typeface="Calibri" pitchFamily="34" charset="-122"/>
                          <a:cs typeface="Calibri" pitchFamily="34" charset="-120"/>
                        </a:rPr>
                        <a:t>0.1429</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E8EFF3"/>
                    </a:solidFill>
                  </a:tcPr>
                </a:tc>
                <a:tc>
                  <a:txBody>
                    <a:bodyPr/>
                    <a:lstStyle/>
                    <a:p>
                      <a:pPr marL="0" indent="0" algn="ctr">
                        <a:buNone/>
                      </a:pPr>
                      <a:r>
                        <a:rPr lang="en-US" sz="950" dirty="0">
                          <a:solidFill>
                            <a:srgbClr val="1B2A3A"/>
                          </a:solidFill>
                          <a:latin typeface="Calibri" pitchFamily="34" charset="0"/>
                          <a:ea typeface="Calibri" pitchFamily="34" charset="-122"/>
                          <a:cs typeface="Calibri" pitchFamily="34" charset="-120"/>
                        </a:rPr>
                        <a:t>-0.0013</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E8EFF3"/>
                    </a:solidFill>
                  </a:tcPr>
                </a:tc>
                <a:extLst>
                  <a:ext uri="{0D108BD9-81ED-4DB2-BD59-A6C34878D82A}">
                    <a16:rowId xmlns:a16="http://schemas.microsoft.com/office/drawing/2014/main" val="10001"/>
                  </a:ext>
                </a:extLst>
              </a:tr>
              <a:tr h="26289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Random Forest</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065A82"/>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0.0524</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065A82"/>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0.0770</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065A82"/>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0.7092</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065A82"/>
                    </a:solidFill>
                  </a:tcPr>
                </a:tc>
                <a:extLst>
                  <a:ext uri="{0D108BD9-81ED-4DB2-BD59-A6C34878D82A}">
                    <a16:rowId xmlns:a16="http://schemas.microsoft.com/office/drawing/2014/main" val="10002"/>
                  </a:ext>
                </a:extLst>
              </a:tr>
              <a:tr h="262890">
                <a:tc>
                  <a:txBody>
                    <a:bodyPr/>
                    <a:lstStyle/>
                    <a:p>
                      <a:pPr marL="0" indent="0" algn="ctr">
                        <a:buNone/>
                      </a:pPr>
                      <a:r>
                        <a:rPr lang="en-US" sz="950" dirty="0">
                          <a:solidFill>
                            <a:srgbClr val="1B2A3A"/>
                          </a:solidFill>
                          <a:latin typeface="Calibri" pitchFamily="34" charset="0"/>
                          <a:ea typeface="Calibri" pitchFamily="34" charset="-122"/>
                          <a:cs typeface="Calibri" pitchFamily="34" charset="-120"/>
                        </a:rPr>
                        <a:t>Tuned RF</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E8EFF3"/>
                    </a:solidFill>
                  </a:tcPr>
                </a:tc>
                <a:tc>
                  <a:txBody>
                    <a:bodyPr/>
                    <a:lstStyle/>
                    <a:p>
                      <a:pPr marL="0" indent="0" algn="ctr">
                        <a:buNone/>
                      </a:pPr>
                      <a:r>
                        <a:rPr lang="en-US" sz="950" dirty="0">
                          <a:solidFill>
                            <a:srgbClr val="1B2A3A"/>
                          </a:solidFill>
                          <a:latin typeface="Calibri" pitchFamily="34" charset="0"/>
                          <a:ea typeface="Calibri" pitchFamily="34" charset="-122"/>
                          <a:cs typeface="Calibri" pitchFamily="34" charset="-120"/>
                        </a:rPr>
                        <a:t>0.0529</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E8EFF3"/>
                    </a:solidFill>
                  </a:tcPr>
                </a:tc>
                <a:tc>
                  <a:txBody>
                    <a:bodyPr/>
                    <a:lstStyle/>
                    <a:p>
                      <a:pPr marL="0" indent="0" algn="ctr">
                        <a:buNone/>
                      </a:pPr>
                      <a:r>
                        <a:rPr lang="en-US" sz="950" dirty="0">
                          <a:solidFill>
                            <a:srgbClr val="1B2A3A"/>
                          </a:solidFill>
                          <a:latin typeface="Calibri" pitchFamily="34" charset="0"/>
                          <a:ea typeface="Calibri" pitchFamily="34" charset="-122"/>
                          <a:cs typeface="Calibri" pitchFamily="34" charset="-120"/>
                        </a:rPr>
                        <a:t>0.0773</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E8EFF3"/>
                    </a:solidFill>
                  </a:tcPr>
                </a:tc>
                <a:tc>
                  <a:txBody>
                    <a:bodyPr/>
                    <a:lstStyle/>
                    <a:p>
                      <a:pPr marL="0" indent="0" algn="ctr">
                        <a:buNone/>
                      </a:pPr>
                      <a:r>
                        <a:rPr lang="en-US" sz="950" dirty="0">
                          <a:solidFill>
                            <a:srgbClr val="1B2A3A"/>
                          </a:solidFill>
                          <a:latin typeface="Calibri" pitchFamily="34" charset="0"/>
                          <a:ea typeface="Calibri" pitchFamily="34" charset="-122"/>
                          <a:cs typeface="Calibri" pitchFamily="34" charset="-120"/>
                        </a:rPr>
                        <a:t>0.7073</a:t>
                      </a:r>
                      <a:endParaRPr lang="en-US" sz="950" dirty="0">
                        <a:latin typeface="Calibri" charset="0"/>
                        <a:ea typeface="Calibri" charset="0"/>
                        <a:cs typeface="Calibri" charset="0"/>
                      </a:endParaRPr>
                    </a:p>
                  </a:txBody>
                  <a:tcPr anchor="ctr">
                    <a:lnL w="7620" cap="flat" cmpd="sng" algn="ctr">
                      <a:solidFill>
                        <a:srgbClr val="D6DFE6"/>
                      </a:solidFill>
                      <a:prstDash val="solid"/>
                      <a:round/>
                      <a:headEnd type="none" w="med" len="med"/>
                      <a:tailEnd type="none" w="med" len="med"/>
                    </a:lnL>
                    <a:lnR w="7620" cap="flat" cmpd="sng" algn="ctr">
                      <a:solidFill>
                        <a:srgbClr val="D6DFE6"/>
                      </a:solidFill>
                      <a:prstDash val="solid"/>
                      <a:round/>
                      <a:headEnd type="none" w="med" len="med"/>
                      <a:tailEnd type="none" w="med" len="med"/>
                    </a:lnR>
                    <a:lnT w="7620" cap="flat" cmpd="sng" algn="ctr">
                      <a:solidFill>
                        <a:srgbClr val="D6DFE6"/>
                      </a:solidFill>
                      <a:prstDash val="solid"/>
                      <a:round/>
                      <a:headEnd type="none" w="med" len="med"/>
                      <a:tailEnd type="none" w="med" len="med"/>
                    </a:lnT>
                    <a:lnB w="7620" cap="flat" cmpd="sng" algn="ctr">
                      <a:solidFill>
                        <a:srgbClr val="D6DFE6"/>
                      </a:solidFill>
                      <a:prstDash val="solid"/>
                      <a:round/>
                      <a:headEnd type="none" w="med" len="med"/>
                      <a:tailEnd type="none" w="med" len="med"/>
                    </a:lnB>
                    <a:solidFill>
                      <a:srgbClr val="E8EFF3"/>
                    </a:solidFill>
                  </a:tcPr>
                </a:tc>
                <a:extLst>
                  <a:ext uri="{0D108BD9-81ED-4DB2-BD59-A6C34878D82A}">
                    <a16:rowId xmlns:a16="http://schemas.microsoft.com/office/drawing/2014/main" val="10003"/>
                  </a:ext>
                </a:extLst>
              </a:tr>
            </a:tbl>
          </a:graphicData>
        </a:graphic>
      </p:graphicFrame>
      <p:sp>
        <p:nvSpPr>
          <p:cNvPr id="85" name="Shape 52">
            <a:extLst>
              <a:ext uri="{FF2B5EF4-FFF2-40B4-BE49-F238E27FC236}">
                <a16:creationId xmlns:a16="http://schemas.microsoft.com/office/drawing/2014/main" id="{FF590884-0E3D-2522-AA53-BEC84FAB12C2}"/>
              </a:ext>
            </a:extLst>
          </p:cNvPr>
          <p:cNvSpPr/>
          <p:nvPr/>
        </p:nvSpPr>
        <p:spPr>
          <a:xfrm>
            <a:off x="7406640" y="2926080"/>
            <a:ext cx="4327855" cy="2286000"/>
          </a:xfrm>
          <a:prstGeom prst="roundRect">
            <a:avLst>
              <a:gd name="adj" fmla="val 2400"/>
            </a:avLst>
          </a:prstGeom>
          <a:solidFill>
            <a:srgbClr val="21295C"/>
          </a:solidFill>
          <a:ln/>
        </p:spPr>
        <p:txBody>
          <a:bodyPr/>
          <a:lstStyle/>
          <a:p>
            <a:endParaRPr lang="en-US"/>
          </a:p>
        </p:txBody>
      </p:sp>
      <p:sp>
        <p:nvSpPr>
          <p:cNvPr id="86" name="Text 53">
            <a:extLst>
              <a:ext uri="{FF2B5EF4-FFF2-40B4-BE49-F238E27FC236}">
                <a16:creationId xmlns:a16="http://schemas.microsoft.com/office/drawing/2014/main" id="{B47D786E-453F-FAED-D8CA-5D232B524331}"/>
              </a:ext>
            </a:extLst>
          </p:cNvPr>
          <p:cNvSpPr txBox="1"/>
          <p:nvPr/>
        </p:nvSpPr>
        <p:spPr>
          <a:xfrm>
            <a:off x="7635240" y="2999232"/>
            <a:ext cx="3870655"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ρ = 0.653</a:t>
            </a:r>
            <a:endParaRPr lang="en-US" sz="2000" dirty="0"/>
          </a:p>
        </p:txBody>
      </p:sp>
      <p:sp>
        <p:nvSpPr>
          <p:cNvPr id="87" name="Text 54">
            <a:extLst>
              <a:ext uri="{FF2B5EF4-FFF2-40B4-BE49-F238E27FC236}">
                <a16:creationId xmlns:a16="http://schemas.microsoft.com/office/drawing/2014/main" id="{C6B6D6E2-C72F-AD1A-B2AE-380AC8EE2D4D}"/>
              </a:ext>
            </a:extLst>
          </p:cNvPr>
          <p:cNvSpPr txBox="1"/>
          <p:nvPr/>
        </p:nvSpPr>
        <p:spPr>
          <a:xfrm>
            <a:off x="7635240" y="3383280"/>
            <a:ext cx="3870655" cy="274320"/>
          </a:xfrm>
          <a:prstGeom prst="rect">
            <a:avLst/>
          </a:prstGeom>
          <a:noFill/>
          <a:ln/>
        </p:spPr>
        <p:txBody>
          <a:bodyPr wrap="square" lIns="0" tIns="0" rIns="0" bIns="0" rtlCol="0" anchor="ctr"/>
          <a:lstStyle/>
          <a:p>
            <a:pPr marL="0" indent="0">
              <a:buNone/>
            </a:pPr>
            <a:r>
              <a:rPr lang="en-US" sz="1000">
                <a:solidFill>
                  <a:srgbClr val="CADCFC"/>
                </a:solidFill>
                <a:latin typeface="Calibri" pitchFamily="34" charset="0"/>
                <a:ea typeface="Calibri" pitchFamily="34" charset="-122"/>
                <a:cs typeface="Calibri" pitchFamily="34" charset="-120"/>
              </a:rPr>
              <a:t>Spearman Correlation | Moderate </a:t>
            </a:r>
            <a:r>
              <a:rPr lang="en-US" sz="1000" dirty="0">
                <a:solidFill>
                  <a:srgbClr val="CADCFC"/>
                </a:solidFill>
                <a:latin typeface="Calibri" pitchFamily="34" charset="0"/>
                <a:ea typeface="Calibri" pitchFamily="34" charset="-122"/>
                <a:cs typeface="Calibri" pitchFamily="34" charset="-120"/>
              </a:rPr>
              <a:t>rank agreement</a:t>
            </a:r>
            <a:endParaRPr lang="en-US" sz="1000" dirty="0"/>
          </a:p>
        </p:txBody>
      </p:sp>
      <p:sp>
        <p:nvSpPr>
          <p:cNvPr id="88" name="Shape 55">
            <a:extLst>
              <a:ext uri="{FF2B5EF4-FFF2-40B4-BE49-F238E27FC236}">
                <a16:creationId xmlns:a16="http://schemas.microsoft.com/office/drawing/2014/main" id="{3C9A6DA0-8423-296F-1157-ADE9356B57CC}"/>
              </a:ext>
            </a:extLst>
          </p:cNvPr>
          <p:cNvSpPr/>
          <p:nvPr/>
        </p:nvSpPr>
        <p:spPr>
          <a:xfrm>
            <a:off x="7635240" y="3669792"/>
            <a:ext cx="3870655" cy="0"/>
          </a:xfrm>
          <a:prstGeom prst="line">
            <a:avLst/>
          </a:prstGeom>
          <a:noFill/>
          <a:ln w="9525">
            <a:solidFill>
              <a:srgbClr val="3A4680"/>
            </a:solidFill>
            <a:prstDash val="solid"/>
          </a:ln>
        </p:spPr>
        <p:txBody>
          <a:bodyPr/>
          <a:lstStyle/>
          <a:p>
            <a:endParaRPr lang="en-US"/>
          </a:p>
        </p:txBody>
      </p:sp>
      <p:sp>
        <p:nvSpPr>
          <p:cNvPr id="89" name="Text 56">
            <a:extLst>
              <a:ext uri="{FF2B5EF4-FFF2-40B4-BE49-F238E27FC236}">
                <a16:creationId xmlns:a16="http://schemas.microsoft.com/office/drawing/2014/main" id="{08AAAABB-361A-965D-103A-EAD207719395}"/>
              </a:ext>
            </a:extLst>
          </p:cNvPr>
          <p:cNvSpPr txBox="1"/>
          <p:nvPr/>
        </p:nvSpPr>
        <p:spPr>
          <a:xfrm>
            <a:off x="7635240" y="3761232"/>
            <a:ext cx="3870655"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10%</a:t>
            </a:r>
            <a:endParaRPr lang="en-US" sz="2000" dirty="0"/>
          </a:p>
        </p:txBody>
      </p:sp>
      <p:sp>
        <p:nvSpPr>
          <p:cNvPr id="90" name="Text 57">
            <a:extLst>
              <a:ext uri="{FF2B5EF4-FFF2-40B4-BE49-F238E27FC236}">
                <a16:creationId xmlns:a16="http://schemas.microsoft.com/office/drawing/2014/main" id="{F4C240EB-8752-46A4-EBCC-A863AB92B7B2}"/>
              </a:ext>
            </a:extLst>
          </p:cNvPr>
          <p:cNvSpPr txBox="1"/>
          <p:nvPr/>
        </p:nvSpPr>
        <p:spPr>
          <a:xfrm>
            <a:off x="7635240" y="4145280"/>
            <a:ext cx="3870655" cy="27432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Top-20 overlap</a:t>
            </a:r>
            <a:endParaRPr lang="en-US" sz="1000" dirty="0"/>
          </a:p>
        </p:txBody>
      </p:sp>
      <p:sp>
        <p:nvSpPr>
          <p:cNvPr id="91" name="Shape 58">
            <a:extLst>
              <a:ext uri="{FF2B5EF4-FFF2-40B4-BE49-F238E27FC236}">
                <a16:creationId xmlns:a16="http://schemas.microsoft.com/office/drawing/2014/main" id="{C9EB1693-47CB-9A63-904D-8E7A9664EA2F}"/>
              </a:ext>
            </a:extLst>
          </p:cNvPr>
          <p:cNvSpPr/>
          <p:nvPr/>
        </p:nvSpPr>
        <p:spPr>
          <a:xfrm>
            <a:off x="7635240" y="4431792"/>
            <a:ext cx="3870655" cy="0"/>
          </a:xfrm>
          <a:prstGeom prst="line">
            <a:avLst/>
          </a:prstGeom>
          <a:noFill/>
          <a:ln w="9525">
            <a:solidFill>
              <a:srgbClr val="3A4680"/>
            </a:solidFill>
            <a:prstDash val="solid"/>
          </a:ln>
        </p:spPr>
        <p:txBody>
          <a:bodyPr/>
          <a:lstStyle/>
          <a:p>
            <a:endParaRPr lang="en-US"/>
          </a:p>
        </p:txBody>
      </p:sp>
      <p:sp>
        <p:nvSpPr>
          <p:cNvPr id="92" name="Text 59">
            <a:extLst>
              <a:ext uri="{FF2B5EF4-FFF2-40B4-BE49-F238E27FC236}">
                <a16:creationId xmlns:a16="http://schemas.microsoft.com/office/drawing/2014/main" id="{EB859802-2807-E354-2A60-63F42D0C488D}"/>
              </a:ext>
            </a:extLst>
          </p:cNvPr>
          <p:cNvSpPr txBox="1"/>
          <p:nvPr/>
        </p:nvSpPr>
        <p:spPr>
          <a:xfrm>
            <a:off x="7635240" y="4523232"/>
            <a:ext cx="3870655"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2 / 20</a:t>
            </a:r>
            <a:endParaRPr lang="en-US" sz="2000" dirty="0"/>
          </a:p>
        </p:txBody>
      </p:sp>
      <p:sp>
        <p:nvSpPr>
          <p:cNvPr id="93" name="Text 60">
            <a:extLst>
              <a:ext uri="{FF2B5EF4-FFF2-40B4-BE49-F238E27FC236}">
                <a16:creationId xmlns:a16="http://schemas.microsoft.com/office/drawing/2014/main" id="{C7FBC1E5-DF02-48E4-F884-023C2B4D664B}"/>
              </a:ext>
            </a:extLst>
          </p:cNvPr>
          <p:cNvSpPr txBox="1"/>
          <p:nvPr/>
        </p:nvSpPr>
        <p:spPr>
          <a:xfrm>
            <a:off x="7635240" y="4907280"/>
            <a:ext cx="3870655" cy="27432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Common top-20 districts</a:t>
            </a:r>
            <a:endParaRPr lang="en-US" sz="1000" dirty="0"/>
          </a:p>
        </p:txBody>
      </p:sp>
      <p:sp>
        <p:nvSpPr>
          <p:cNvPr id="94" name="Shape 61">
            <a:extLst>
              <a:ext uri="{FF2B5EF4-FFF2-40B4-BE49-F238E27FC236}">
                <a16:creationId xmlns:a16="http://schemas.microsoft.com/office/drawing/2014/main" id="{14C931B5-1831-CF13-D696-E3E14455473C}"/>
              </a:ext>
            </a:extLst>
          </p:cNvPr>
          <p:cNvSpPr/>
          <p:nvPr/>
        </p:nvSpPr>
        <p:spPr>
          <a:xfrm>
            <a:off x="457200" y="5349240"/>
            <a:ext cx="11277295" cy="685800"/>
          </a:xfrm>
          <a:prstGeom prst="roundRect">
            <a:avLst>
              <a:gd name="adj" fmla="val 8000"/>
            </a:avLst>
          </a:prstGeom>
          <a:solidFill>
            <a:srgbClr val="065A82"/>
          </a:solidFill>
          <a:ln/>
        </p:spPr>
        <p:txBody>
          <a:bodyPr/>
          <a:lstStyle/>
          <a:p>
            <a:endParaRPr lang="en-US"/>
          </a:p>
        </p:txBody>
      </p:sp>
      <p:sp>
        <p:nvSpPr>
          <p:cNvPr id="95" name="Text 62">
            <a:extLst>
              <a:ext uri="{FF2B5EF4-FFF2-40B4-BE49-F238E27FC236}">
                <a16:creationId xmlns:a16="http://schemas.microsoft.com/office/drawing/2014/main" id="{C981ACFD-D4FD-31BB-E675-944000F06DBE}"/>
              </a:ext>
            </a:extLst>
          </p:cNvPr>
          <p:cNvSpPr txBox="1"/>
          <p:nvPr/>
        </p:nvSpPr>
        <p:spPr>
          <a:xfrm>
            <a:off x="731520" y="5349240"/>
            <a:ext cx="10728655" cy="6858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AI-assisted ranking provides a complementary </a:t>
            </a:r>
            <a:r>
              <a:rPr lang="en-US" sz="1300" i="1">
                <a:solidFill>
                  <a:srgbClr val="FFFFFF"/>
                </a:solidFill>
                <a:latin typeface="Calibri" pitchFamily="34" charset="0"/>
                <a:ea typeface="Calibri" pitchFamily="34" charset="-122"/>
                <a:cs typeface="Calibri" pitchFamily="34" charset="-120"/>
              </a:rPr>
              <a:t>prioritization signal: not </a:t>
            </a:r>
            <a:r>
              <a:rPr lang="en-US" sz="1300" i="1" dirty="0">
                <a:solidFill>
                  <a:srgbClr val="FFFFFF"/>
                </a:solidFill>
                <a:latin typeface="Calibri" pitchFamily="34" charset="0"/>
                <a:ea typeface="Calibri" pitchFamily="34" charset="-122"/>
                <a:cs typeface="Calibri" pitchFamily="34" charset="-120"/>
              </a:rPr>
              <a:t>a replacement for HIGI.</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a:solidFill>
                  <a:srgbClr val="21295C"/>
                </a:solidFill>
                <a:latin typeface="Cambria" pitchFamily="34" charset="0"/>
                <a:ea typeface="Cambria" pitchFamily="34" charset="-122"/>
                <a:cs typeface="Cambria" pitchFamily="34" charset="-120"/>
              </a:rPr>
              <a:t>Implementation and User Benefit</a:t>
            </a:r>
            <a:endParaRPr lang="en-US" sz="3000" dirty="0"/>
          </a:p>
        </p:txBody>
      </p:sp>
      <p:sp>
        <p:nvSpPr>
          <p:cNvPr id="3" name="Shape 1"/>
          <p:cNvSpPr/>
          <p:nvPr/>
        </p:nvSpPr>
        <p:spPr>
          <a:xfrm>
            <a:off x="457200" y="1234440"/>
            <a:ext cx="457200" cy="457200"/>
          </a:xfrm>
          <a:prstGeom prst="ellipse">
            <a:avLst/>
          </a:prstGeom>
          <a:solidFill>
            <a:srgbClr val="065A82"/>
          </a:solidFill>
          <a:ln/>
        </p:spPr>
        <p:txBody>
          <a:bodyPr/>
          <a:lstStyle/>
          <a:p>
            <a:endParaRPr lang="en-US"/>
          </a:p>
        </p:txBody>
      </p:sp>
      <p:sp>
        <p:nvSpPr>
          <p:cNvPr id="4" name="Text 2"/>
          <p:cNvSpPr txBox="1"/>
          <p:nvPr/>
        </p:nvSpPr>
        <p:spPr>
          <a:xfrm>
            <a:off x="457200" y="12344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097280" y="1216152"/>
            <a:ext cx="1828800" cy="45720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Identify</a:t>
            </a:r>
            <a:endParaRPr lang="en-US" sz="1400" dirty="0"/>
          </a:p>
        </p:txBody>
      </p:sp>
      <p:sp>
        <p:nvSpPr>
          <p:cNvPr id="6" name="Text 4"/>
          <p:cNvSpPr txBox="1"/>
          <p:nvPr/>
        </p:nvSpPr>
        <p:spPr>
          <a:xfrm>
            <a:off x="2971800" y="1216152"/>
            <a:ext cx="8762695" cy="457200"/>
          </a:xfrm>
          <a:prstGeom prst="rect">
            <a:avLst/>
          </a:prstGeom>
          <a:noFill/>
          <a:ln/>
        </p:spPr>
        <p:txBody>
          <a:bodyPr wrap="square" lIns="0" tIns="0" rIns="0" bIns="0" rtlCol="0" anchor="ctr"/>
          <a:lstStyle/>
          <a:p>
            <a:pPr marL="0" indent="0">
              <a:lnSpc>
                <a:spcPct val="105000"/>
              </a:lnSpc>
              <a:buNone/>
            </a:pPr>
            <a:r>
              <a:rPr lang="en-US" sz="1150" dirty="0">
                <a:solidFill>
                  <a:srgbClr val="1B2A3A"/>
                </a:solidFill>
                <a:latin typeface="Calibri" pitchFamily="34" charset="0"/>
                <a:ea typeface="Calibri" pitchFamily="34" charset="-122"/>
                <a:cs typeface="Calibri" pitchFamily="34" charset="-120"/>
              </a:rPr>
              <a:t>Use HIGI rankings to identify districts with relatively larger infrastructure gaps.</a:t>
            </a:r>
            <a:endParaRPr lang="en-US" sz="1150" dirty="0"/>
          </a:p>
        </p:txBody>
      </p:sp>
      <p:sp>
        <p:nvSpPr>
          <p:cNvPr id="7" name="Shape 5"/>
          <p:cNvSpPr/>
          <p:nvPr/>
        </p:nvSpPr>
        <p:spPr>
          <a:xfrm>
            <a:off x="457200" y="1801368"/>
            <a:ext cx="457200" cy="457200"/>
          </a:xfrm>
          <a:prstGeom prst="ellipse">
            <a:avLst/>
          </a:prstGeom>
          <a:solidFill>
            <a:srgbClr val="065A82"/>
          </a:solidFill>
          <a:ln/>
        </p:spPr>
        <p:txBody>
          <a:bodyPr/>
          <a:lstStyle/>
          <a:p>
            <a:endParaRPr lang="en-US"/>
          </a:p>
        </p:txBody>
      </p:sp>
      <p:sp>
        <p:nvSpPr>
          <p:cNvPr id="8" name="Text 6"/>
          <p:cNvSpPr txBox="1"/>
          <p:nvPr/>
        </p:nvSpPr>
        <p:spPr>
          <a:xfrm>
            <a:off x="457200" y="180136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097280" y="1783080"/>
            <a:ext cx="1828800" cy="45720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Profile</a:t>
            </a:r>
            <a:endParaRPr lang="en-US" sz="1400" dirty="0"/>
          </a:p>
        </p:txBody>
      </p:sp>
      <p:sp>
        <p:nvSpPr>
          <p:cNvPr id="10" name="Text 8"/>
          <p:cNvSpPr txBox="1"/>
          <p:nvPr/>
        </p:nvSpPr>
        <p:spPr>
          <a:xfrm>
            <a:off x="2971800" y="1783080"/>
            <a:ext cx="8762695" cy="457200"/>
          </a:xfrm>
          <a:prstGeom prst="rect">
            <a:avLst/>
          </a:prstGeom>
          <a:noFill/>
          <a:ln/>
        </p:spPr>
        <p:txBody>
          <a:bodyPr wrap="square" lIns="0" tIns="0" rIns="0" bIns="0" rtlCol="0" anchor="ctr"/>
          <a:lstStyle/>
          <a:p>
            <a:pPr marL="0" indent="0">
              <a:lnSpc>
                <a:spcPct val="105000"/>
              </a:lnSpc>
              <a:buNone/>
            </a:pPr>
            <a:r>
              <a:rPr lang="en-US" sz="1150" dirty="0">
                <a:solidFill>
                  <a:srgbClr val="1B2A3A"/>
                </a:solidFill>
                <a:latin typeface="Calibri" pitchFamily="34" charset="0"/>
                <a:ea typeface="Calibri" pitchFamily="34" charset="-122"/>
                <a:cs typeface="Calibri" pitchFamily="34" charset="-120"/>
              </a:rPr>
              <a:t>Use K-Means district profiles to understand differences in population, infrastructure, and health characteristics.</a:t>
            </a:r>
            <a:endParaRPr lang="en-US" sz="1150" dirty="0"/>
          </a:p>
        </p:txBody>
      </p:sp>
      <p:sp>
        <p:nvSpPr>
          <p:cNvPr id="11" name="Shape 9"/>
          <p:cNvSpPr/>
          <p:nvPr/>
        </p:nvSpPr>
        <p:spPr>
          <a:xfrm>
            <a:off x="457200" y="2368296"/>
            <a:ext cx="457200" cy="457200"/>
          </a:xfrm>
          <a:prstGeom prst="ellipse">
            <a:avLst/>
          </a:prstGeom>
          <a:solidFill>
            <a:srgbClr val="065A82"/>
          </a:solidFill>
          <a:ln/>
        </p:spPr>
        <p:txBody>
          <a:bodyPr/>
          <a:lstStyle/>
          <a:p>
            <a:endParaRPr lang="en-US"/>
          </a:p>
        </p:txBody>
      </p:sp>
      <p:sp>
        <p:nvSpPr>
          <p:cNvPr id="12" name="Text 10"/>
          <p:cNvSpPr txBox="1"/>
          <p:nvPr/>
        </p:nvSpPr>
        <p:spPr>
          <a:xfrm>
            <a:off x="457200" y="236829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097280" y="2350008"/>
            <a:ext cx="1828800" cy="45720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Prioritize</a:t>
            </a:r>
            <a:endParaRPr lang="en-US" sz="1400" dirty="0"/>
          </a:p>
        </p:txBody>
      </p:sp>
      <p:sp>
        <p:nvSpPr>
          <p:cNvPr id="14" name="Text 12"/>
          <p:cNvSpPr txBox="1"/>
          <p:nvPr/>
        </p:nvSpPr>
        <p:spPr>
          <a:xfrm>
            <a:off x="2971800" y="2350008"/>
            <a:ext cx="8762695" cy="457200"/>
          </a:xfrm>
          <a:prstGeom prst="rect">
            <a:avLst/>
          </a:prstGeom>
          <a:noFill/>
          <a:ln/>
        </p:spPr>
        <p:txBody>
          <a:bodyPr wrap="square" lIns="0" tIns="0" rIns="0" bIns="0" rtlCol="0" anchor="ctr"/>
          <a:lstStyle/>
          <a:p>
            <a:pPr marL="0" indent="0">
              <a:lnSpc>
                <a:spcPct val="105000"/>
              </a:lnSpc>
              <a:buNone/>
            </a:pPr>
            <a:r>
              <a:rPr lang="en-US" sz="1150" dirty="0">
                <a:solidFill>
                  <a:srgbClr val="1B2A3A"/>
                </a:solidFill>
                <a:latin typeface="Calibri" pitchFamily="34" charset="0"/>
                <a:ea typeface="Calibri" pitchFamily="34" charset="-122"/>
                <a:cs typeface="Calibri" pitchFamily="34" charset="-120"/>
              </a:rPr>
              <a:t>Use AI-assisted Random Forest rankings as an additional signal for districts requiring further review.</a:t>
            </a:r>
            <a:endParaRPr lang="en-US" sz="1150" dirty="0"/>
          </a:p>
        </p:txBody>
      </p:sp>
      <p:sp>
        <p:nvSpPr>
          <p:cNvPr id="15" name="Shape 13"/>
          <p:cNvSpPr/>
          <p:nvPr/>
        </p:nvSpPr>
        <p:spPr>
          <a:xfrm>
            <a:off x="457200" y="2935224"/>
            <a:ext cx="457200" cy="457200"/>
          </a:xfrm>
          <a:prstGeom prst="ellipse">
            <a:avLst/>
          </a:prstGeom>
          <a:solidFill>
            <a:srgbClr val="065A82"/>
          </a:solidFill>
          <a:ln/>
        </p:spPr>
        <p:txBody>
          <a:bodyPr/>
          <a:lstStyle/>
          <a:p>
            <a:endParaRPr lang="en-US"/>
          </a:p>
        </p:txBody>
      </p:sp>
      <p:sp>
        <p:nvSpPr>
          <p:cNvPr id="16" name="Text 14"/>
          <p:cNvSpPr txBox="1"/>
          <p:nvPr/>
        </p:nvSpPr>
        <p:spPr>
          <a:xfrm>
            <a:off x="457200" y="293522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1097280" y="2916936"/>
            <a:ext cx="1828800" cy="45720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Integrate</a:t>
            </a:r>
            <a:endParaRPr lang="en-US" sz="1400" dirty="0"/>
          </a:p>
        </p:txBody>
      </p:sp>
      <p:sp>
        <p:nvSpPr>
          <p:cNvPr id="18" name="Text 16"/>
          <p:cNvSpPr txBox="1"/>
          <p:nvPr/>
        </p:nvSpPr>
        <p:spPr>
          <a:xfrm>
            <a:off x="2971800" y="2916936"/>
            <a:ext cx="8762695" cy="457200"/>
          </a:xfrm>
          <a:prstGeom prst="rect">
            <a:avLst/>
          </a:prstGeom>
          <a:noFill/>
          <a:ln/>
        </p:spPr>
        <p:txBody>
          <a:bodyPr wrap="square" lIns="0" tIns="0" rIns="0" bIns="0" rtlCol="0" anchor="ctr"/>
          <a:lstStyle/>
          <a:p>
            <a:pPr marL="0" indent="0">
              <a:lnSpc>
                <a:spcPct val="105000"/>
              </a:lnSpc>
              <a:buNone/>
            </a:pPr>
            <a:r>
              <a:rPr lang="en-US" sz="1150" dirty="0">
                <a:solidFill>
                  <a:srgbClr val="1B2A3A"/>
                </a:solidFill>
                <a:latin typeface="Calibri" pitchFamily="34" charset="0"/>
                <a:ea typeface="Calibri" pitchFamily="34" charset="-122"/>
                <a:cs typeface="Calibri" pitchFamily="34" charset="-120"/>
              </a:rPr>
              <a:t>Combine analytical outputs with budget, feasibility, local context, and policy priorities.</a:t>
            </a:r>
            <a:endParaRPr lang="en-US" sz="1150" dirty="0"/>
          </a:p>
        </p:txBody>
      </p:sp>
      <p:sp>
        <p:nvSpPr>
          <p:cNvPr id="19" name="Shape 17"/>
          <p:cNvSpPr/>
          <p:nvPr/>
        </p:nvSpPr>
        <p:spPr>
          <a:xfrm>
            <a:off x="457200" y="3502152"/>
            <a:ext cx="457200" cy="457200"/>
          </a:xfrm>
          <a:prstGeom prst="ellipse">
            <a:avLst/>
          </a:prstGeom>
          <a:solidFill>
            <a:srgbClr val="21295C"/>
          </a:solidFill>
          <a:ln/>
        </p:spPr>
        <p:txBody>
          <a:bodyPr/>
          <a:lstStyle/>
          <a:p>
            <a:endParaRPr lang="en-US"/>
          </a:p>
        </p:txBody>
      </p:sp>
      <p:sp>
        <p:nvSpPr>
          <p:cNvPr id="20" name="Text 18"/>
          <p:cNvSpPr txBox="1"/>
          <p:nvPr/>
        </p:nvSpPr>
        <p:spPr>
          <a:xfrm>
            <a:off x="457200" y="3502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txBox="1"/>
          <p:nvPr/>
        </p:nvSpPr>
        <p:spPr>
          <a:xfrm>
            <a:off x="1097280" y="3483864"/>
            <a:ext cx="1828800" cy="45720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Decide</a:t>
            </a:r>
            <a:endParaRPr lang="en-US" sz="1400" dirty="0"/>
          </a:p>
        </p:txBody>
      </p:sp>
      <p:sp>
        <p:nvSpPr>
          <p:cNvPr id="22" name="Text 20"/>
          <p:cNvSpPr txBox="1"/>
          <p:nvPr/>
        </p:nvSpPr>
        <p:spPr>
          <a:xfrm>
            <a:off x="2971800" y="3483864"/>
            <a:ext cx="8762695" cy="457200"/>
          </a:xfrm>
          <a:prstGeom prst="rect">
            <a:avLst/>
          </a:prstGeom>
          <a:noFill/>
          <a:ln/>
        </p:spPr>
        <p:txBody>
          <a:bodyPr wrap="square" lIns="0" tIns="0" rIns="0" bIns="0" rtlCol="0" anchor="ctr"/>
          <a:lstStyle/>
          <a:p>
            <a:pPr marL="0" indent="0">
              <a:lnSpc>
                <a:spcPct val="105000"/>
              </a:lnSpc>
              <a:buNone/>
            </a:pPr>
            <a:r>
              <a:rPr lang="en-US" sz="1150" dirty="0">
                <a:solidFill>
                  <a:srgbClr val="1B2A3A"/>
                </a:solidFill>
                <a:latin typeface="Calibri" pitchFamily="34" charset="0"/>
                <a:ea typeface="Calibri" pitchFamily="34" charset="-122"/>
                <a:cs typeface="Calibri" pitchFamily="34" charset="-120"/>
              </a:rPr>
              <a:t>Provide evidence to policymakers and domain experts while retaining human judgement in final allocation decisions.</a:t>
            </a:r>
            <a:endParaRPr lang="en-US" sz="1150" dirty="0"/>
          </a:p>
        </p:txBody>
      </p:sp>
      <p:sp>
        <p:nvSpPr>
          <p:cNvPr id="23" name="Shape 21"/>
          <p:cNvSpPr/>
          <p:nvPr/>
        </p:nvSpPr>
        <p:spPr>
          <a:xfrm>
            <a:off x="457200" y="4160520"/>
            <a:ext cx="11277295" cy="1051560"/>
          </a:xfrm>
          <a:prstGeom prst="roundRect">
            <a:avLst>
              <a:gd name="adj" fmla="val 5217"/>
            </a:avLst>
          </a:prstGeom>
          <a:solidFill>
            <a:srgbClr val="E8EFF3"/>
          </a:solidFill>
          <a:ln/>
        </p:spPr>
        <p:txBody>
          <a:bodyPr/>
          <a:lstStyle/>
          <a:p>
            <a:endParaRPr lang="en-US"/>
          </a:p>
        </p:txBody>
      </p:sp>
      <p:sp>
        <p:nvSpPr>
          <p:cNvPr id="24" name="Text 22"/>
          <p:cNvSpPr txBox="1"/>
          <p:nvPr/>
        </p:nvSpPr>
        <p:spPr>
          <a:xfrm>
            <a:off x="685800" y="4270248"/>
            <a:ext cx="3657600" cy="274320"/>
          </a:xfrm>
          <a:prstGeom prst="rect">
            <a:avLst/>
          </a:prstGeom>
          <a:noFill/>
          <a:ln/>
        </p:spPr>
        <p:txBody>
          <a:bodyPr wrap="square" lIns="0" tIns="0" rIns="0" bIns="0" rtlCol="0" anchor="ctr"/>
          <a:lstStyle/>
          <a:p>
            <a:pPr marL="0" indent="0">
              <a:buNone/>
            </a:pPr>
            <a:r>
              <a:rPr lang="en-US" sz="1050" b="1" kern="0" spc="150" dirty="0">
                <a:solidFill>
                  <a:srgbClr val="065A82"/>
                </a:solidFill>
                <a:latin typeface="Calibri" pitchFamily="34" charset="0"/>
                <a:ea typeface="Calibri" pitchFamily="34" charset="-122"/>
                <a:cs typeface="Calibri" pitchFamily="34" charset="-120"/>
              </a:rPr>
              <a:t>EXAMPLE USE CASE</a:t>
            </a:r>
            <a:endParaRPr lang="en-US" sz="1050" dirty="0"/>
          </a:p>
        </p:txBody>
      </p:sp>
      <p:sp>
        <p:nvSpPr>
          <p:cNvPr id="25" name="Text 23"/>
          <p:cNvSpPr txBox="1"/>
          <p:nvPr/>
        </p:nvSpPr>
        <p:spPr>
          <a:xfrm>
            <a:off x="685800" y="4526280"/>
            <a:ext cx="10820095" cy="640080"/>
          </a:xfrm>
          <a:prstGeom prst="rect">
            <a:avLst/>
          </a:prstGeom>
          <a:noFill/>
          <a:ln/>
        </p:spPr>
        <p:txBody>
          <a:bodyPr wrap="square" lIns="0" tIns="0" rIns="0" bIns="0" rtlCol="0" anchor="ctr"/>
          <a:lstStyle/>
          <a:p>
            <a:pPr marL="0" indent="0">
              <a:lnSpc>
                <a:spcPct val="110000"/>
              </a:lnSpc>
              <a:buNone/>
            </a:pPr>
            <a:r>
              <a:rPr lang="en-US" sz="1150" i="1" dirty="0">
                <a:solidFill>
                  <a:srgbClr val="1B2A3A"/>
                </a:solidFill>
                <a:latin typeface="Calibri" pitchFamily="34" charset="0"/>
                <a:ea typeface="Calibri" pitchFamily="34" charset="-122"/>
                <a:cs typeface="Calibri" pitchFamily="34" charset="-120"/>
              </a:rPr>
              <a:t>A state health department could screen districts using HIGI, segment them by district profile, and use the AI-assisted ranking to flag districts for deeper feasibility assessment before allocating infrastructure resources.</a:t>
            </a:r>
            <a:endParaRPr lang="en-US" sz="1150" dirty="0"/>
          </a:p>
        </p:txBody>
      </p:sp>
      <p:sp>
        <p:nvSpPr>
          <p:cNvPr id="26" name="Text 24"/>
          <p:cNvSpPr txBox="1"/>
          <p:nvPr/>
        </p:nvSpPr>
        <p:spPr>
          <a:xfrm>
            <a:off x="457200" y="5349240"/>
            <a:ext cx="11277295" cy="365760"/>
          </a:xfrm>
          <a:prstGeom prst="rect">
            <a:avLst/>
          </a:prstGeom>
          <a:noFill/>
          <a:ln/>
        </p:spPr>
        <p:txBody>
          <a:bodyPr wrap="square" lIns="0" tIns="0" rIns="0" bIns="0" rtlCol="0" anchor="ctr"/>
          <a:lstStyle/>
          <a:p>
            <a:pPr marL="0" indent="0" algn="ctr">
              <a:buNone/>
            </a:pPr>
            <a:r>
              <a:rPr lang="en-US" sz="1450" b="1" dirty="0">
                <a:solidFill>
                  <a:srgbClr val="21295C"/>
                </a:solidFill>
                <a:latin typeface="Cambria" pitchFamily="34" charset="0"/>
                <a:ea typeface="Cambria" pitchFamily="34" charset="-122"/>
                <a:cs typeface="Cambria" pitchFamily="34" charset="-120"/>
              </a:rPr>
              <a:t>One District</a:t>
            </a:r>
            <a:r>
              <a:rPr lang="en-US" sz="1450" dirty="0">
                <a:solidFill>
                  <a:srgbClr val="5B6B79"/>
                </a:solidFill>
                <a:latin typeface="Cambria" pitchFamily="34" charset="0"/>
                <a:ea typeface="Cambria" pitchFamily="34" charset="-122"/>
                <a:cs typeface="Cambria" pitchFamily="34" charset="-120"/>
              </a:rPr>
              <a:t>  →  </a:t>
            </a:r>
            <a:r>
              <a:rPr lang="en-US" sz="1450" b="1" dirty="0">
                <a:solidFill>
                  <a:srgbClr val="065A82"/>
                </a:solidFill>
                <a:latin typeface="Cambria" pitchFamily="34" charset="0"/>
                <a:ea typeface="Cambria" pitchFamily="34" charset="-122"/>
                <a:cs typeface="Cambria" pitchFamily="34" charset="-120"/>
              </a:rPr>
              <a:t>Multiple Evidence-Based Perspectives</a:t>
            </a:r>
            <a:r>
              <a:rPr lang="en-US" sz="1450" dirty="0">
                <a:solidFill>
                  <a:srgbClr val="5B6B79"/>
                </a:solidFill>
                <a:latin typeface="Cambria" pitchFamily="34" charset="0"/>
                <a:ea typeface="Cambria" pitchFamily="34" charset="-122"/>
                <a:cs typeface="Cambria" pitchFamily="34" charset="-120"/>
              </a:rPr>
              <a:t>  →  </a:t>
            </a:r>
            <a:r>
              <a:rPr lang="en-US" sz="1450" b="1" dirty="0">
                <a:solidFill>
                  <a:srgbClr val="1C7293"/>
                </a:solidFill>
                <a:latin typeface="Cambria" pitchFamily="34" charset="0"/>
                <a:ea typeface="Cambria" pitchFamily="34" charset="-122"/>
                <a:cs typeface="Cambria" pitchFamily="34" charset="-120"/>
              </a:rPr>
              <a:t>Better-Informed Review</a:t>
            </a:r>
            <a:endParaRPr lang="en-US" sz="1450" dirty="0"/>
          </a:p>
        </p:txBody>
      </p:sp>
      <p:sp>
        <p:nvSpPr>
          <p:cNvPr id="27" name="Text 25"/>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Healthcare Infrastructure Gap Index (HIGI)</a:t>
            </a:r>
            <a:endParaRPr lang="en-US" sz="900" dirty="0"/>
          </a:p>
        </p:txBody>
      </p:sp>
      <p:sp>
        <p:nvSpPr>
          <p:cNvPr id="28" name="Text 26"/>
          <p:cNvSpPr txBox="1"/>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574E22C5-8995-EC25-38A0-ACFA8A01C726}"/>
              </a:ext>
            </a:extLst>
          </p:cNvPr>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Conclusion</a:t>
            </a:r>
            <a:endParaRPr lang="en-US" sz="3000" dirty="0">
              <a:solidFill>
                <a:schemeClr val="tx2"/>
              </a:solidFill>
            </a:endParaRPr>
          </a:p>
        </p:txBody>
      </p:sp>
      <p:sp>
        <p:nvSpPr>
          <p:cNvPr id="3" name="Shape 2">
            <a:extLst>
              <a:ext uri="{FF2B5EF4-FFF2-40B4-BE49-F238E27FC236}">
                <a16:creationId xmlns:a16="http://schemas.microsoft.com/office/drawing/2014/main" id="{26CB9B86-66F0-5D4A-A758-F35990321EFE}"/>
              </a:ext>
            </a:extLst>
          </p:cNvPr>
          <p:cNvSpPr/>
          <p:nvPr/>
        </p:nvSpPr>
        <p:spPr>
          <a:xfrm>
            <a:off x="457200" y="1234440"/>
            <a:ext cx="5501488" cy="1051560"/>
          </a:xfrm>
          <a:prstGeom prst="roundRect">
            <a:avLst>
              <a:gd name="adj" fmla="val 5217"/>
            </a:avLst>
          </a:prstGeom>
          <a:solidFill>
            <a:srgbClr val="2C3670"/>
          </a:solidFill>
          <a:ln/>
        </p:spPr>
        <p:txBody>
          <a:bodyPr/>
          <a:lstStyle/>
          <a:p>
            <a:endParaRPr lang="en-US"/>
          </a:p>
        </p:txBody>
      </p:sp>
      <p:sp>
        <p:nvSpPr>
          <p:cNvPr id="4" name="Text 3">
            <a:extLst>
              <a:ext uri="{FF2B5EF4-FFF2-40B4-BE49-F238E27FC236}">
                <a16:creationId xmlns:a16="http://schemas.microsoft.com/office/drawing/2014/main" id="{3D4BFDDC-2DA0-6D6A-5B32-FED4B5D05E7D}"/>
              </a:ext>
            </a:extLst>
          </p:cNvPr>
          <p:cNvSpPr txBox="1"/>
          <p:nvPr/>
        </p:nvSpPr>
        <p:spPr>
          <a:xfrm>
            <a:off x="640080" y="1325880"/>
            <a:ext cx="822960" cy="86868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01</a:t>
            </a:r>
            <a:endParaRPr lang="en-US" sz="2600" dirty="0"/>
          </a:p>
        </p:txBody>
      </p:sp>
      <p:sp>
        <p:nvSpPr>
          <p:cNvPr id="5" name="Text 4">
            <a:extLst>
              <a:ext uri="{FF2B5EF4-FFF2-40B4-BE49-F238E27FC236}">
                <a16:creationId xmlns:a16="http://schemas.microsoft.com/office/drawing/2014/main" id="{7E141096-1A9E-BCE7-291E-16712D12F6FB}"/>
              </a:ext>
            </a:extLst>
          </p:cNvPr>
          <p:cNvSpPr txBox="1"/>
          <p:nvPr/>
        </p:nvSpPr>
        <p:spPr>
          <a:xfrm>
            <a:off x="1417320" y="1344168"/>
            <a:ext cx="4358488" cy="32004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Integration</a:t>
            </a:r>
            <a:endParaRPr lang="en-US" sz="1300" dirty="0"/>
          </a:p>
        </p:txBody>
      </p:sp>
      <p:sp>
        <p:nvSpPr>
          <p:cNvPr id="6" name="Text 5">
            <a:extLst>
              <a:ext uri="{FF2B5EF4-FFF2-40B4-BE49-F238E27FC236}">
                <a16:creationId xmlns:a16="http://schemas.microsoft.com/office/drawing/2014/main" id="{3F0C4B6C-9236-11DC-631B-74B1858A4DA7}"/>
              </a:ext>
            </a:extLst>
          </p:cNvPr>
          <p:cNvSpPr txBox="1"/>
          <p:nvPr/>
        </p:nvSpPr>
        <p:spPr>
          <a:xfrm>
            <a:off x="1417320" y="1673352"/>
            <a:ext cx="4358488" cy="548640"/>
          </a:xfrm>
          <a:prstGeom prst="rect">
            <a:avLst/>
          </a:prstGeom>
          <a:noFill/>
          <a:ln/>
        </p:spPr>
        <p:txBody>
          <a:bodyPr wrap="square" lIns="0" tIns="0" rIns="0" bIns="0"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Successfully integrated 488 districts × 18 variables from RHS, Census 2011, and NFHS-5.</a:t>
            </a:r>
            <a:endParaRPr lang="en-US" sz="1200" dirty="0"/>
          </a:p>
        </p:txBody>
      </p:sp>
      <p:sp>
        <p:nvSpPr>
          <p:cNvPr id="7" name="Shape 6">
            <a:extLst>
              <a:ext uri="{FF2B5EF4-FFF2-40B4-BE49-F238E27FC236}">
                <a16:creationId xmlns:a16="http://schemas.microsoft.com/office/drawing/2014/main" id="{D7AED2BC-9AE4-9D97-FD2A-D82D77D378EC}"/>
              </a:ext>
            </a:extLst>
          </p:cNvPr>
          <p:cNvSpPr/>
          <p:nvPr/>
        </p:nvSpPr>
        <p:spPr>
          <a:xfrm>
            <a:off x="6233008" y="1234440"/>
            <a:ext cx="5501488" cy="1051560"/>
          </a:xfrm>
          <a:prstGeom prst="roundRect">
            <a:avLst>
              <a:gd name="adj" fmla="val 5217"/>
            </a:avLst>
          </a:prstGeom>
          <a:solidFill>
            <a:srgbClr val="2C3670"/>
          </a:solidFill>
          <a:ln/>
        </p:spPr>
        <p:txBody>
          <a:bodyPr/>
          <a:lstStyle/>
          <a:p>
            <a:endParaRPr lang="en-US"/>
          </a:p>
        </p:txBody>
      </p:sp>
      <p:sp>
        <p:nvSpPr>
          <p:cNvPr id="8" name="Text 7">
            <a:extLst>
              <a:ext uri="{FF2B5EF4-FFF2-40B4-BE49-F238E27FC236}">
                <a16:creationId xmlns:a16="http://schemas.microsoft.com/office/drawing/2014/main" id="{51FBBD10-B9B7-B6A4-0263-6AA43FB0853E}"/>
              </a:ext>
            </a:extLst>
          </p:cNvPr>
          <p:cNvSpPr txBox="1"/>
          <p:nvPr/>
        </p:nvSpPr>
        <p:spPr>
          <a:xfrm>
            <a:off x="6415888" y="1325880"/>
            <a:ext cx="822960" cy="86868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02</a:t>
            </a:r>
            <a:endParaRPr lang="en-US" sz="2600" dirty="0"/>
          </a:p>
        </p:txBody>
      </p:sp>
      <p:sp>
        <p:nvSpPr>
          <p:cNvPr id="9" name="Text 8">
            <a:extLst>
              <a:ext uri="{FF2B5EF4-FFF2-40B4-BE49-F238E27FC236}">
                <a16:creationId xmlns:a16="http://schemas.microsoft.com/office/drawing/2014/main" id="{0B87DA32-3F93-E4EB-7B4D-FF2934600833}"/>
              </a:ext>
            </a:extLst>
          </p:cNvPr>
          <p:cNvSpPr txBox="1"/>
          <p:nvPr/>
        </p:nvSpPr>
        <p:spPr>
          <a:xfrm>
            <a:off x="7193128" y="1344168"/>
            <a:ext cx="4358488" cy="32004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Measurement</a:t>
            </a:r>
            <a:endParaRPr lang="en-US" sz="1300" dirty="0"/>
          </a:p>
        </p:txBody>
      </p:sp>
      <p:sp>
        <p:nvSpPr>
          <p:cNvPr id="10" name="Text 9">
            <a:extLst>
              <a:ext uri="{FF2B5EF4-FFF2-40B4-BE49-F238E27FC236}">
                <a16:creationId xmlns:a16="http://schemas.microsoft.com/office/drawing/2014/main" id="{F046FF5C-6C37-AB83-3376-A9FB34CE0316}"/>
              </a:ext>
            </a:extLst>
          </p:cNvPr>
          <p:cNvSpPr txBox="1"/>
          <p:nvPr/>
        </p:nvSpPr>
        <p:spPr>
          <a:xfrm>
            <a:off x="7193128" y="1673352"/>
            <a:ext cx="4358488" cy="548640"/>
          </a:xfrm>
          <a:prstGeom prst="rect">
            <a:avLst/>
          </a:prstGeom>
          <a:noFill/>
          <a:ln/>
        </p:spPr>
        <p:txBody>
          <a:bodyPr wrap="square" lIns="0" tIns="0" rIns="0" bIns="0"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HIGI provides a standardized measure of relative healthcare infrastructure gaps across districts.</a:t>
            </a:r>
            <a:endParaRPr lang="en-US" sz="1200" dirty="0"/>
          </a:p>
        </p:txBody>
      </p:sp>
      <p:sp>
        <p:nvSpPr>
          <p:cNvPr id="11" name="Shape 10">
            <a:extLst>
              <a:ext uri="{FF2B5EF4-FFF2-40B4-BE49-F238E27FC236}">
                <a16:creationId xmlns:a16="http://schemas.microsoft.com/office/drawing/2014/main" id="{2F7DA3A3-C821-2D93-C1A2-4AB4F6690C67}"/>
              </a:ext>
            </a:extLst>
          </p:cNvPr>
          <p:cNvSpPr/>
          <p:nvPr/>
        </p:nvSpPr>
        <p:spPr>
          <a:xfrm>
            <a:off x="457200" y="2468880"/>
            <a:ext cx="5501488" cy="1051560"/>
          </a:xfrm>
          <a:prstGeom prst="roundRect">
            <a:avLst>
              <a:gd name="adj" fmla="val 5217"/>
            </a:avLst>
          </a:prstGeom>
          <a:solidFill>
            <a:srgbClr val="2C3670"/>
          </a:solidFill>
          <a:ln/>
        </p:spPr>
        <p:txBody>
          <a:bodyPr/>
          <a:lstStyle/>
          <a:p>
            <a:endParaRPr lang="en-US"/>
          </a:p>
        </p:txBody>
      </p:sp>
      <p:sp>
        <p:nvSpPr>
          <p:cNvPr id="12" name="Text 11">
            <a:extLst>
              <a:ext uri="{FF2B5EF4-FFF2-40B4-BE49-F238E27FC236}">
                <a16:creationId xmlns:a16="http://schemas.microsoft.com/office/drawing/2014/main" id="{74D53C5B-CE96-A540-499F-BAD27630C757}"/>
              </a:ext>
            </a:extLst>
          </p:cNvPr>
          <p:cNvSpPr txBox="1"/>
          <p:nvPr/>
        </p:nvSpPr>
        <p:spPr>
          <a:xfrm>
            <a:off x="640080" y="2560320"/>
            <a:ext cx="822960" cy="86868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03</a:t>
            </a:r>
            <a:endParaRPr lang="en-US" sz="2600" dirty="0"/>
          </a:p>
        </p:txBody>
      </p:sp>
      <p:sp>
        <p:nvSpPr>
          <p:cNvPr id="13" name="Text 12">
            <a:extLst>
              <a:ext uri="{FF2B5EF4-FFF2-40B4-BE49-F238E27FC236}">
                <a16:creationId xmlns:a16="http://schemas.microsoft.com/office/drawing/2014/main" id="{B4205872-792E-5A29-9277-495B2DD0CD50}"/>
              </a:ext>
            </a:extLst>
          </p:cNvPr>
          <p:cNvSpPr txBox="1"/>
          <p:nvPr/>
        </p:nvSpPr>
        <p:spPr>
          <a:xfrm>
            <a:off x="1417320" y="2578608"/>
            <a:ext cx="4358488" cy="32004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Segmentation</a:t>
            </a:r>
            <a:endParaRPr lang="en-US" sz="1300" dirty="0"/>
          </a:p>
        </p:txBody>
      </p:sp>
      <p:sp>
        <p:nvSpPr>
          <p:cNvPr id="14" name="Text 13">
            <a:extLst>
              <a:ext uri="{FF2B5EF4-FFF2-40B4-BE49-F238E27FC236}">
                <a16:creationId xmlns:a16="http://schemas.microsoft.com/office/drawing/2014/main" id="{9D8E1482-5BBE-E1F7-93A1-A20663DAA36C}"/>
              </a:ext>
            </a:extLst>
          </p:cNvPr>
          <p:cNvSpPr txBox="1"/>
          <p:nvPr/>
        </p:nvSpPr>
        <p:spPr>
          <a:xfrm>
            <a:off x="1417320" y="2907792"/>
            <a:ext cx="4358488" cy="548640"/>
          </a:xfrm>
          <a:prstGeom prst="rect">
            <a:avLst/>
          </a:prstGeom>
          <a:noFill/>
          <a:ln/>
        </p:spPr>
        <p:txBody>
          <a:bodyPr wrap="square" lIns="0" tIns="0" rIns="0" bIns="0"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K-Means identified 3 district profiles, providing contextual segmentation.</a:t>
            </a:r>
            <a:endParaRPr lang="en-US" sz="1200" dirty="0"/>
          </a:p>
        </p:txBody>
      </p:sp>
      <p:sp>
        <p:nvSpPr>
          <p:cNvPr id="15" name="Shape 14">
            <a:extLst>
              <a:ext uri="{FF2B5EF4-FFF2-40B4-BE49-F238E27FC236}">
                <a16:creationId xmlns:a16="http://schemas.microsoft.com/office/drawing/2014/main" id="{7B6DF5B6-41D5-A511-B751-C46F52607366}"/>
              </a:ext>
            </a:extLst>
          </p:cNvPr>
          <p:cNvSpPr/>
          <p:nvPr/>
        </p:nvSpPr>
        <p:spPr>
          <a:xfrm>
            <a:off x="6233008" y="2468880"/>
            <a:ext cx="5501488" cy="1051560"/>
          </a:xfrm>
          <a:prstGeom prst="roundRect">
            <a:avLst>
              <a:gd name="adj" fmla="val 5217"/>
            </a:avLst>
          </a:prstGeom>
          <a:solidFill>
            <a:srgbClr val="2C3670"/>
          </a:solidFill>
          <a:ln/>
        </p:spPr>
        <p:txBody>
          <a:bodyPr/>
          <a:lstStyle/>
          <a:p>
            <a:endParaRPr lang="en-US"/>
          </a:p>
        </p:txBody>
      </p:sp>
      <p:sp>
        <p:nvSpPr>
          <p:cNvPr id="16" name="Text 15">
            <a:extLst>
              <a:ext uri="{FF2B5EF4-FFF2-40B4-BE49-F238E27FC236}">
                <a16:creationId xmlns:a16="http://schemas.microsoft.com/office/drawing/2014/main" id="{B36957BF-D7BB-FF92-2810-716D5108FB3F}"/>
              </a:ext>
            </a:extLst>
          </p:cNvPr>
          <p:cNvSpPr txBox="1"/>
          <p:nvPr/>
        </p:nvSpPr>
        <p:spPr>
          <a:xfrm>
            <a:off x="6415888" y="2560320"/>
            <a:ext cx="822960" cy="86868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04</a:t>
            </a:r>
            <a:endParaRPr lang="en-US" sz="2600" dirty="0"/>
          </a:p>
        </p:txBody>
      </p:sp>
      <p:sp>
        <p:nvSpPr>
          <p:cNvPr id="17" name="Text 16">
            <a:extLst>
              <a:ext uri="{FF2B5EF4-FFF2-40B4-BE49-F238E27FC236}">
                <a16:creationId xmlns:a16="http://schemas.microsoft.com/office/drawing/2014/main" id="{00E33331-EBE2-345E-66DE-880129FCC204}"/>
              </a:ext>
            </a:extLst>
          </p:cNvPr>
          <p:cNvSpPr txBox="1"/>
          <p:nvPr/>
        </p:nvSpPr>
        <p:spPr>
          <a:xfrm>
            <a:off x="7193128" y="2578608"/>
            <a:ext cx="4358488" cy="32004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AI-Assisted Prioritization</a:t>
            </a:r>
            <a:endParaRPr lang="en-US" sz="1300" dirty="0"/>
          </a:p>
        </p:txBody>
      </p:sp>
      <p:sp>
        <p:nvSpPr>
          <p:cNvPr id="18" name="Text 17">
            <a:extLst>
              <a:ext uri="{FF2B5EF4-FFF2-40B4-BE49-F238E27FC236}">
                <a16:creationId xmlns:a16="http://schemas.microsoft.com/office/drawing/2014/main" id="{EC8007FA-D657-32AC-890B-DE63DC0899CE}"/>
              </a:ext>
            </a:extLst>
          </p:cNvPr>
          <p:cNvSpPr txBox="1"/>
          <p:nvPr/>
        </p:nvSpPr>
        <p:spPr>
          <a:xfrm>
            <a:off x="7193128" y="2907792"/>
            <a:ext cx="4358488" cy="548640"/>
          </a:xfrm>
          <a:prstGeom prst="rect">
            <a:avLst/>
          </a:prstGeom>
          <a:noFill/>
          <a:ln/>
        </p:spPr>
        <p:txBody>
          <a:bodyPr wrap="square" lIns="0" tIns="0" rIns="0" bIns="0"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Random Forest achieved R² = 0.7092; AI-assisted ranking showed ρ = 0.653 with only 10% Top-20 overlap.</a:t>
            </a:r>
            <a:endParaRPr lang="en-US" sz="1200" dirty="0"/>
          </a:p>
        </p:txBody>
      </p:sp>
      <p:sp>
        <p:nvSpPr>
          <p:cNvPr id="19" name="Text 18">
            <a:extLst>
              <a:ext uri="{FF2B5EF4-FFF2-40B4-BE49-F238E27FC236}">
                <a16:creationId xmlns:a16="http://schemas.microsoft.com/office/drawing/2014/main" id="{E7F5C300-628C-C153-7990-523CF0432B0D}"/>
              </a:ext>
            </a:extLst>
          </p:cNvPr>
          <p:cNvSpPr txBox="1"/>
          <p:nvPr/>
        </p:nvSpPr>
        <p:spPr>
          <a:xfrm>
            <a:off x="457200" y="3611880"/>
            <a:ext cx="5486400" cy="274320"/>
          </a:xfrm>
          <a:prstGeom prst="rect">
            <a:avLst/>
          </a:prstGeom>
          <a:noFill/>
          <a:ln/>
        </p:spPr>
        <p:txBody>
          <a:bodyPr wrap="square" lIns="0" tIns="0" rIns="0" bIns="0" rtlCol="0" anchor="ctr"/>
          <a:lstStyle/>
          <a:p>
            <a:pPr marL="0" indent="0">
              <a:buNone/>
            </a:pPr>
            <a:r>
              <a:rPr lang="en-US" sz="1100" b="1" kern="0" spc="150" dirty="0">
                <a:solidFill>
                  <a:schemeClr val="accent3">
                    <a:lumMod val="75000"/>
                  </a:schemeClr>
                </a:solidFill>
                <a:latin typeface="Calibri" pitchFamily="34" charset="0"/>
                <a:ea typeface="Calibri" pitchFamily="34" charset="-122"/>
                <a:cs typeface="Calibri" pitchFamily="34" charset="-120"/>
              </a:rPr>
              <a:t>LIMITATIONS &amp; FUTURE SCOPE</a:t>
            </a:r>
            <a:endParaRPr lang="en-US" sz="1100" b="1" dirty="0">
              <a:solidFill>
                <a:schemeClr val="accent3">
                  <a:lumMod val="75000"/>
                </a:schemeClr>
              </a:solidFill>
            </a:endParaRPr>
          </a:p>
        </p:txBody>
      </p:sp>
      <p:sp>
        <p:nvSpPr>
          <p:cNvPr id="20" name="Text 19">
            <a:extLst>
              <a:ext uri="{FF2B5EF4-FFF2-40B4-BE49-F238E27FC236}">
                <a16:creationId xmlns:a16="http://schemas.microsoft.com/office/drawing/2014/main" id="{82083D25-87F1-4BA9-8C00-83FF592B3D35}"/>
              </a:ext>
            </a:extLst>
          </p:cNvPr>
          <p:cNvSpPr txBox="1"/>
          <p:nvPr/>
        </p:nvSpPr>
        <p:spPr>
          <a:xfrm>
            <a:off x="457200" y="3904488"/>
            <a:ext cx="11277295" cy="1051560"/>
          </a:xfrm>
          <a:prstGeom prst="rect">
            <a:avLst/>
          </a:prstGeom>
          <a:noFill/>
          <a:ln/>
        </p:spPr>
        <p:txBody>
          <a:bodyPr wrap="square" lIns="0" tIns="0" rIns="0" bIns="0" rtlCol="0" anchor="ctr"/>
          <a:lstStyle/>
          <a:p>
            <a:pPr marL="342900" indent="-342900">
              <a:lnSpc>
                <a:spcPct val="120000"/>
              </a:lnSpc>
              <a:buSzPct val="100000"/>
              <a:buChar char="•"/>
            </a:pPr>
            <a:r>
              <a:rPr lang="en-US" sz="1200" dirty="0">
                <a:solidFill>
                  <a:schemeClr val="tx2"/>
                </a:solidFill>
                <a:latin typeface="Calibri" panose="020F0502020204030204" pitchFamily="34" charset="0"/>
                <a:ea typeface="Calibri" pitchFamily="34" charset="-122"/>
                <a:cs typeface="Calibri" panose="020F0502020204030204" pitchFamily="34" charset="0"/>
              </a:rPr>
              <a:t>Data are district-level and from different reference periods</a:t>
            </a:r>
            <a:endParaRPr lang="en-US" sz="1200" dirty="0">
              <a:solidFill>
                <a:schemeClr val="tx2"/>
              </a:solidFill>
              <a:latin typeface="Calibri" panose="020F0502020204030204" pitchFamily="34" charset="0"/>
              <a:cs typeface="Calibri" panose="020F0502020204030204" pitchFamily="34" charset="0"/>
            </a:endParaRPr>
          </a:p>
          <a:p>
            <a:pPr marL="342900" indent="-342900">
              <a:lnSpc>
                <a:spcPct val="120000"/>
              </a:lnSpc>
              <a:buSzPct val="100000"/>
              <a:buChar char="•"/>
            </a:pPr>
            <a:r>
              <a:rPr lang="en-US" sz="1200" dirty="0">
                <a:solidFill>
                  <a:schemeClr val="tx2"/>
                </a:solidFill>
                <a:latin typeface="Calibri" panose="020F0502020204030204" pitchFamily="34" charset="0"/>
                <a:ea typeface="Calibri" pitchFamily="34" charset="-122"/>
                <a:cs typeface="Calibri" panose="020F0502020204030204" pitchFamily="34" charset="0"/>
              </a:rPr>
              <a:t>Framework excludes real-time and private healthcare infrastructure</a:t>
            </a:r>
            <a:endParaRPr lang="en-US" sz="1200" dirty="0">
              <a:solidFill>
                <a:schemeClr val="tx2"/>
              </a:solidFill>
              <a:latin typeface="Calibri" panose="020F0502020204030204" pitchFamily="34" charset="0"/>
              <a:cs typeface="Calibri" panose="020F0502020204030204" pitchFamily="34" charset="0"/>
            </a:endParaRPr>
          </a:p>
          <a:p>
            <a:pPr marL="342900" indent="-342900">
              <a:lnSpc>
                <a:spcPct val="120000"/>
              </a:lnSpc>
              <a:buSzPct val="100000"/>
              <a:buChar char="•"/>
            </a:pPr>
            <a:r>
              <a:rPr lang="en-US" sz="1200" dirty="0">
                <a:solidFill>
                  <a:schemeClr val="tx2"/>
                </a:solidFill>
                <a:latin typeface="Calibri" panose="020F0502020204030204" pitchFamily="34" charset="0"/>
                <a:ea typeface="Calibri" pitchFamily="34" charset="-122"/>
                <a:cs typeface="Calibri" panose="020F0502020204030204" pitchFamily="34" charset="0"/>
              </a:rPr>
              <a:t>Cluster separation is moderate; model shows association, not causation</a:t>
            </a:r>
            <a:endParaRPr lang="en-US" sz="1200" dirty="0">
              <a:solidFill>
                <a:schemeClr val="tx2"/>
              </a:solidFill>
              <a:latin typeface="Calibri" panose="020F0502020204030204" pitchFamily="34" charset="0"/>
              <a:cs typeface="Calibri" panose="020F0502020204030204" pitchFamily="34" charset="0"/>
            </a:endParaRPr>
          </a:p>
          <a:p>
            <a:pPr marL="342900" indent="-342900">
              <a:lnSpc>
                <a:spcPct val="120000"/>
              </a:lnSpc>
              <a:buSzPct val="100000"/>
              <a:buChar char="•"/>
            </a:pPr>
            <a:r>
              <a:rPr lang="en-US" sz="1200" dirty="0">
                <a:solidFill>
                  <a:schemeClr val="tx2"/>
                </a:solidFill>
                <a:latin typeface="Calibri" panose="020F0502020204030204" pitchFamily="34" charset="0"/>
                <a:ea typeface="Calibri" pitchFamily="34" charset="-122"/>
                <a:cs typeface="Calibri" panose="020F0502020204030204" pitchFamily="34" charset="0"/>
              </a:rPr>
              <a:t>Future work: newer datasets, HIGI weight sensitivity analysis, feasibility variables, refreshed-data deployment</a:t>
            </a:r>
            <a:endParaRPr lang="en-US" sz="1200" dirty="0">
              <a:solidFill>
                <a:schemeClr val="tx2"/>
              </a:solidFill>
              <a:latin typeface="Calibri" panose="020F0502020204030204" pitchFamily="34" charset="0"/>
              <a:cs typeface="Calibri" panose="020F0502020204030204" pitchFamily="34" charset="0"/>
            </a:endParaRPr>
          </a:p>
        </p:txBody>
      </p:sp>
      <p:sp>
        <p:nvSpPr>
          <p:cNvPr id="21" name="Shape 20">
            <a:extLst>
              <a:ext uri="{FF2B5EF4-FFF2-40B4-BE49-F238E27FC236}">
                <a16:creationId xmlns:a16="http://schemas.microsoft.com/office/drawing/2014/main" id="{154C8286-A2B9-2C48-5560-EB95F5B783F0}"/>
              </a:ext>
            </a:extLst>
          </p:cNvPr>
          <p:cNvSpPr/>
          <p:nvPr/>
        </p:nvSpPr>
        <p:spPr>
          <a:xfrm>
            <a:off x="457200" y="5074920"/>
            <a:ext cx="11277295" cy="1051560"/>
          </a:xfrm>
          <a:prstGeom prst="roundRect">
            <a:avLst>
              <a:gd name="adj" fmla="val 5217"/>
            </a:avLst>
          </a:prstGeom>
          <a:solidFill>
            <a:srgbClr val="065A82"/>
          </a:solidFill>
          <a:ln/>
        </p:spPr>
        <p:txBody>
          <a:bodyPr/>
          <a:lstStyle/>
          <a:p>
            <a:endParaRPr lang="en-US"/>
          </a:p>
        </p:txBody>
      </p:sp>
      <p:sp>
        <p:nvSpPr>
          <p:cNvPr id="22" name="Text 21">
            <a:extLst>
              <a:ext uri="{FF2B5EF4-FFF2-40B4-BE49-F238E27FC236}">
                <a16:creationId xmlns:a16="http://schemas.microsoft.com/office/drawing/2014/main" id="{F45E0A70-4F79-923B-E029-B319EB112803}"/>
              </a:ext>
            </a:extLst>
          </p:cNvPr>
          <p:cNvSpPr txBox="1"/>
          <p:nvPr/>
        </p:nvSpPr>
        <p:spPr>
          <a:xfrm>
            <a:off x="731520" y="5074920"/>
            <a:ext cx="10728655" cy="1051560"/>
          </a:xfrm>
          <a:prstGeom prst="rect">
            <a:avLst/>
          </a:prstGeom>
          <a:noFill/>
          <a:ln/>
        </p:spPr>
        <p:txBody>
          <a:bodyPr wrap="square" lIns="0" tIns="0" rIns="0" bIns="0" rtlCol="0" anchor="ctr"/>
          <a:lstStyle/>
          <a:p>
            <a:pPr marL="0" indent="0">
              <a:lnSpc>
                <a:spcPct val="115000"/>
              </a:lnSpc>
              <a:buNone/>
            </a:pPr>
            <a:r>
              <a:rPr lang="en-US" sz="1250" i="1" dirty="0">
                <a:solidFill>
                  <a:srgbClr val="FFFFFF"/>
                </a:solidFill>
                <a:latin typeface="Calibri" pitchFamily="34" charset="0"/>
                <a:ea typeface="Calibri" pitchFamily="34" charset="-122"/>
                <a:cs typeface="Calibri" pitchFamily="34" charset="-120"/>
              </a:rPr>
              <a:t>HIGI should be viewed as a </a:t>
            </a:r>
            <a:r>
              <a:rPr lang="en-US" sz="1250" i="1">
                <a:solidFill>
                  <a:srgbClr val="FFFFFF"/>
                </a:solidFill>
                <a:latin typeface="Calibri" pitchFamily="34" charset="0"/>
                <a:ea typeface="Calibri" pitchFamily="34" charset="-122"/>
                <a:cs typeface="Calibri" pitchFamily="34" charset="-120"/>
              </a:rPr>
              <a:t>decision-support framework, </a:t>
            </a:r>
            <a:r>
              <a:rPr lang="en-US" sz="1250" i="1" dirty="0">
                <a:solidFill>
                  <a:srgbClr val="FFFFFF"/>
                </a:solidFill>
                <a:latin typeface="Calibri" pitchFamily="34" charset="0"/>
                <a:ea typeface="Calibri" pitchFamily="34" charset="-122"/>
                <a:cs typeface="Calibri" pitchFamily="34" charset="-120"/>
              </a:rPr>
              <a:t>not an automated </a:t>
            </a:r>
            <a:r>
              <a:rPr lang="en-US" sz="1250" i="1">
                <a:solidFill>
                  <a:srgbClr val="FFFFFF"/>
                </a:solidFill>
                <a:latin typeface="Calibri" pitchFamily="34" charset="0"/>
                <a:ea typeface="Calibri" pitchFamily="34" charset="-122"/>
                <a:cs typeface="Calibri" pitchFamily="34" charset="-120"/>
              </a:rPr>
              <a:t>allocation system: combining </a:t>
            </a:r>
            <a:r>
              <a:rPr lang="en-US" sz="1250" i="1" dirty="0">
                <a:solidFill>
                  <a:srgbClr val="FFFFFF"/>
                </a:solidFill>
                <a:latin typeface="Calibri" pitchFamily="34" charset="0"/>
                <a:ea typeface="Calibri" pitchFamily="34" charset="-122"/>
                <a:cs typeface="Calibri" pitchFamily="34" charset="-120"/>
              </a:rPr>
              <a:t>infrastructure gaps, district profiles, and AI-assisted evidence to support expert decision-making.</a:t>
            </a:r>
            <a:endParaRPr lang="en-US" sz="1250" dirty="0"/>
          </a:p>
        </p:txBody>
      </p:sp>
    </p:spTree>
    <p:extLst>
      <p:ext uri="{BB962C8B-B14F-4D97-AF65-F5344CB8AC3E}">
        <p14:creationId xmlns:p14="http://schemas.microsoft.com/office/powerpoint/2010/main" val="2527952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1127729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Bibliography</a:t>
            </a:r>
            <a:endParaRPr lang="en-US" sz="3000" dirty="0"/>
          </a:p>
        </p:txBody>
      </p:sp>
      <p:sp>
        <p:nvSpPr>
          <p:cNvPr id="16" name="Text 14"/>
          <p:cNvSpPr txBox="1"/>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Healthcare Infrastructure Gap Index (HIGI)</a:t>
            </a:r>
            <a:endParaRPr lang="en-US" sz="900" dirty="0"/>
          </a:p>
        </p:txBody>
      </p:sp>
      <p:sp>
        <p:nvSpPr>
          <p:cNvPr id="17" name="Text 15"/>
          <p:cNvSpPr txBox="1"/>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
        <p:nvSpPr>
          <p:cNvPr id="18" name="TextBox 17">
            <a:extLst>
              <a:ext uri="{FF2B5EF4-FFF2-40B4-BE49-F238E27FC236}">
                <a16:creationId xmlns:a16="http://schemas.microsoft.com/office/drawing/2014/main" id="{83A7D065-65A5-5569-E376-3633DAB6BDF0}"/>
              </a:ext>
            </a:extLst>
          </p:cNvPr>
          <p:cNvSpPr txBox="1"/>
          <p:nvPr/>
        </p:nvSpPr>
        <p:spPr>
          <a:xfrm>
            <a:off x="457200" y="1115568"/>
            <a:ext cx="10138357" cy="4763868"/>
          </a:xfrm>
          <a:prstGeom prst="rect">
            <a:avLst/>
          </a:prstGeom>
          <a:noFill/>
        </p:spPr>
        <p:txBody>
          <a:bodyPr wrap="square">
            <a:spAutoFit/>
          </a:bodyPr>
          <a:lstStyle/>
          <a:p>
            <a:pPr algn="l">
              <a:lnSpc>
                <a:spcPct val="100000"/>
              </a:lnSpc>
              <a:spcAft>
                <a:spcPts val="500"/>
              </a:spcAft>
              <a:defRPr sz="940">
                <a:solidFill>
                  <a:srgbClr val="1B2A3A"/>
                </a:solidFill>
                <a:latin typeface="Calibri"/>
              </a:defRPr>
            </a:pPr>
            <a:r>
              <a:rPr sz="1200" b="1">
                <a:solidFill>
                  <a:srgbClr val="002060"/>
                </a:solidFill>
              </a:rPr>
              <a:t>International Institute for Population Sciences (IIPS), &amp; ICF. (2021). National family health survey (NFHS-5), 2019–21: India. IIPS.</a:t>
            </a:r>
          </a:p>
          <a:p>
            <a:pPr algn="l">
              <a:lnSpc>
                <a:spcPct val="100000"/>
              </a:lnSpc>
              <a:spcAft>
                <a:spcPts val="500"/>
              </a:spcAft>
              <a:defRPr sz="940">
                <a:solidFill>
                  <a:srgbClr val="1B2A3A"/>
                </a:solidFill>
                <a:latin typeface="Calibri"/>
              </a:defRPr>
            </a:pPr>
            <a:r>
              <a:rPr sz="1200" b="1">
                <a:solidFill>
                  <a:srgbClr val="002060"/>
                </a:solidFill>
              </a:rPr>
              <a:t>James, G., Witten, D., Hastie, T., &amp; Tibshirani, R. (2021). An introduction to statistical learning: With applications in R (2nd ed.). Springer.</a:t>
            </a:r>
          </a:p>
          <a:p>
            <a:pPr algn="l">
              <a:lnSpc>
                <a:spcPct val="100000"/>
              </a:lnSpc>
              <a:spcAft>
                <a:spcPts val="500"/>
              </a:spcAft>
              <a:defRPr sz="940">
                <a:solidFill>
                  <a:srgbClr val="1B2A3A"/>
                </a:solidFill>
                <a:latin typeface="Calibri"/>
              </a:defRPr>
            </a:pPr>
            <a:r>
              <a:rPr sz="1200" b="1">
                <a:solidFill>
                  <a:srgbClr val="002060"/>
                </a:solidFill>
              </a:rPr>
              <a:t>Ministry of Health and Family Welfare. (2022). Rural health statistics 2021–22. Government of India.</a:t>
            </a:r>
          </a:p>
          <a:p>
            <a:pPr algn="l">
              <a:lnSpc>
                <a:spcPct val="100000"/>
              </a:lnSpc>
              <a:spcAft>
                <a:spcPts val="500"/>
              </a:spcAft>
              <a:defRPr sz="940">
                <a:solidFill>
                  <a:srgbClr val="1B2A3A"/>
                </a:solidFill>
                <a:latin typeface="Calibri"/>
              </a:defRPr>
            </a:pPr>
            <a:r>
              <a:rPr sz="1200" b="1">
                <a:solidFill>
                  <a:srgbClr val="002060"/>
                </a:solidFill>
              </a:rPr>
              <a:t>Mukherji, A., Rao, M., Desai, S., Subramanian, S. V., Kang, G., &amp; Patel, V. (2024). District-level monitoring of universal health coverage, India. Bulletin of the World Health Organization, 102(9), 630–638B.</a:t>
            </a:r>
          </a:p>
          <a:p>
            <a:pPr algn="l">
              <a:lnSpc>
                <a:spcPct val="100000"/>
              </a:lnSpc>
              <a:spcAft>
                <a:spcPts val="500"/>
              </a:spcAft>
              <a:defRPr sz="940">
                <a:solidFill>
                  <a:srgbClr val="1B2A3A"/>
                </a:solidFill>
                <a:latin typeface="Calibri"/>
              </a:defRPr>
            </a:pPr>
            <a:r>
              <a:rPr sz="1200" b="1">
                <a:solidFill>
                  <a:srgbClr val="002060"/>
                </a:solidFill>
              </a:rPr>
              <a:t>Office of the Registrar General &amp; Census Commissioner, India. (2011). Census of India 2011. Government of India.</a:t>
            </a:r>
          </a:p>
          <a:p>
            <a:pPr algn="l">
              <a:lnSpc>
                <a:spcPct val="100000"/>
              </a:lnSpc>
              <a:spcAft>
                <a:spcPts val="500"/>
              </a:spcAft>
              <a:defRPr sz="940">
                <a:solidFill>
                  <a:srgbClr val="1B2A3A"/>
                </a:solidFill>
                <a:latin typeface="Calibri"/>
              </a:defRPr>
            </a:pPr>
            <a:r>
              <a:rPr sz="1200" b="1">
                <a:solidFill>
                  <a:srgbClr val="002060"/>
                </a:solidFill>
              </a:rPr>
              <a:t>Organisation for Economic Co-operation and Development, &amp; Joint Research Centre. (2008). Handbook on constructing composite indicators: Methodology and user guide. OECD Publishing.</a:t>
            </a:r>
          </a:p>
          <a:p>
            <a:pPr algn="l">
              <a:lnSpc>
                <a:spcPct val="100000"/>
              </a:lnSpc>
              <a:spcAft>
                <a:spcPts val="500"/>
              </a:spcAft>
              <a:defRPr sz="940">
                <a:solidFill>
                  <a:srgbClr val="1B2A3A"/>
                </a:solidFill>
                <a:latin typeface="Calibri"/>
              </a:defRPr>
            </a:pPr>
            <a:r>
              <a:rPr sz="1200" b="1">
                <a:solidFill>
                  <a:srgbClr val="002060"/>
                </a:solidFill>
              </a:rPr>
              <a:t>Russell, S., &amp; Norvig, P. (2021). Artificial intelligence: A modern approach (4th ed.). Pearson.</a:t>
            </a:r>
            <a:endParaRPr lang="en-US" sz="1200" b="1">
              <a:solidFill>
                <a:srgbClr val="002060"/>
              </a:solidFill>
            </a:endParaRPr>
          </a:p>
          <a:p>
            <a:pPr>
              <a:spcAft>
                <a:spcPts val="500"/>
              </a:spcAft>
              <a:defRPr sz="940">
                <a:solidFill>
                  <a:srgbClr val="1B2A3A"/>
                </a:solidFill>
                <a:latin typeface="Calibri"/>
              </a:defRPr>
            </a:pPr>
            <a:r>
              <a:rPr lang="en-US" sz="1200" b="1">
                <a:solidFill>
                  <a:srgbClr val="002060"/>
                </a:solidFill>
              </a:rPr>
              <a:t>Sehgal, M., Jatrana, S., &amp; Johnson, L. (2024). A comprehensive health index for India: Development, validation, and spatial variation. Journal of Population Research, 41, Article 21.</a:t>
            </a:r>
          </a:p>
          <a:p>
            <a:pPr>
              <a:spcAft>
                <a:spcPts val="500"/>
              </a:spcAft>
              <a:defRPr sz="940">
                <a:solidFill>
                  <a:srgbClr val="1B2A3A"/>
                </a:solidFill>
                <a:latin typeface="Calibri"/>
              </a:defRPr>
            </a:pPr>
            <a:r>
              <a:rPr lang="en-US" sz="1200" b="1">
                <a:solidFill>
                  <a:srgbClr val="002060"/>
                </a:solidFill>
              </a:rPr>
              <a:t>Sharda, R., Delen, D., &amp; Turban, E. (2023). Business intelligence, analytics, data science, and AI: A managerial perspective (5th ed.). Pearson.</a:t>
            </a:r>
          </a:p>
          <a:p>
            <a:pPr>
              <a:spcAft>
                <a:spcPts val="500"/>
              </a:spcAft>
              <a:defRPr sz="940">
                <a:solidFill>
                  <a:srgbClr val="1B2A3A"/>
                </a:solidFill>
                <a:latin typeface="Calibri"/>
              </a:defRPr>
            </a:pPr>
            <a:r>
              <a:rPr lang="en-US" sz="1200" b="1">
                <a:solidFill>
                  <a:srgbClr val="002060"/>
                </a:solidFill>
              </a:rPr>
              <a:t>Sharma, A., Prinja, S., &amp; Aggarwal, A. K. (2017). Measurement of health system performance at district level: A study protocol. Journal of Public Health Research, 6(3), Article 917. https://doi.org/10.4081/jphr.2017.917</a:t>
            </a:r>
          </a:p>
          <a:p>
            <a:pPr>
              <a:spcAft>
                <a:spcPts val="500"/>
              </a:spcAft>
              <a:defRPr sz="940">
                <a:solidFill>
                  <a:srgbClr val="1B2A3A"/>
                </a:solidFill>
                <a:latin typeface="Calibri"/>
              </a:defRPr>
            </a:pPr>
            <a:r>
              <a:rPr lang="en-US" sz="1200" b="1">
                <a:solidFill>
                  <a:srgbClr val="002060"/>
                </a:solidFill>
              </a:rPr>
              <a:t>Sharma, A., Prinja, S., &amp; Aggarwal, A. K. (2019). Comprehensive measurement of health system performance at district level in India: Generation of a composite index. The International Journal of Health Planning and Management, 34(4), e1783–e1799.</a:t>
            </a:r>
          </a:p>
          <a:p>
            <a:pPr>
              <a:spcAft>
                <a:spcPts val="500"/>
              </a:spcAft>
              <a:defRPr sz="940">
                <a:solidFill>
                  <a:srgbClr val="1B2A3A"/>
                </a:solidFill>
                <a:latin typeface="Calibri"/>
              </a:defRPr>
            </a:pPr>
            <a:r>
              <a:rPr lang="en-US" sz="1200" b="1">
                <a:solidFill>
                  <a:srgbClr val="002060"/>
                </a:solidFill>
              </a:rPr>
              <a:t>Sivasubramanian, S., &amp; Raval, A. (2025). Artificial intelligence–augmented public health interventions in India. Health Affairs Scholar, 3(5).</a:t>
            </a:r>
          </a:p>
          <a:p>
            <a:pPr>
              <a:spcAft>
                <a:spcPts val="500"/>
              </a:spcAft>
              <a:defRPr sz="940">
                <a:solidFill>
                  <a:srgbClr val="1B2A3A"/>
                </a:solidFill>
                <a:latin typeface="Calibri"/>
              </a:defRPr>
            </a:pPr>
            <a:r>
              <a:rPr lang="en-US" sz="1200" b="1">
                <a:solidFill>
                  <a:srgbClr val="002060"/>
                </a:solidFill>
              </a:rPr>
              <a:t>Saragadam, S. K., Saragadam, S. H., Kumari, K. S. S., &amp; Kasturi, G. V. K. (2025). Explainable machine learning on health management information system data to unveil health factors affecting maternal mortality ratio of districts in India towards achieving sustainable development goals. Journal of Information Systems Engineering &amp; Management, 10(24s).</a:t>
            </a:r>
          </a:p>
          <a:p>
            <a:pPr algn="l">
              <a:lnSpc>
                <a:spcPct val="100000"/>
              </a:lnSpc>
              <a:spcAft>
                <a:spcPts val="500"/>
              </a:spcAft>
              <a:defRPr sz="940">
                <a:solidFill>
                  <a:srgbClr val="1B2A3A"/>
                </a:solidFill>
                <a:latin typeface="Calibri"/>
              </a:defRPr>
            </a:pP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3135</TotalTime>
  <Words>1619</Words>
  <Application>Microsoft Macintosh PowerPoint</Application>
  <PresentationFormat>Widescreen</PresentationFormat>
  <Paragraphs>247</Paragraphs>
  <Slides>11</Slides>
  <Notes>9</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11</vt:i4>
      </vt:variant>
      <vt:variant>
        <vt:lpstr>Custom Shows</vt:lpstr>
      </vt:variant>
      <vt:variant>
        <vt:i4>1</vt:i4>
      </vt:variant>
    </vt:vector>
  </HeadingPairs>
  <TitlesOfParts>
    <vt:vector size="18" baseType="lpstr">
      <vt:lpstr>Aptos</vt:lpstr>
      <vt:lpstr>Aptos Display</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 Show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Anirudh Harathi</cp:lastModifiedBy>
  <cp:revision>19</cp:revision>
  <dcterms:created xsi:type="dcterms:W3CDTF">2026-09-04T11:27:09Z</dcterms:created>
  <dcterms:modified xsi:type="dcterms:W3CDTF">2026-09-06T15:45:18Z</dcterms:modified>
</cp:coreProperties>
</file>