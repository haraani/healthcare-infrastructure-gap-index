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3840480" cy="38404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2377440"/>
            <a:ext cx="2377440" cy="237744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-1280160"/>
            <a:ext cx="2926080" cy="292608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CAPSTONE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2880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 Infrastructure Gap Index (HIGI)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461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AI-Assisted Decision Support Framework for District-Level Healthcare Infrastructure Prioritization in India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4709160"/>
            <a:ext cx="20116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49377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Anirudh Harathi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[Mentor Name]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490472"/>
            <a:ext cx="10591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district-level, data-driven framework to measure healthcare infrastructure gaps and support prioritization across India.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94767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19019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203704"/>
            <a:ext cx="10591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RHS, Census of India 2011, and NFHS-5 data covering 488 districts and 18 variables.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60904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26609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26151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2916936"/>
            <a:ext cx="10591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Constructed the Healthcare Infrastructure Gap Index (HIGI), profiled districts with K-Means, and built an AI-assisted Random Forest prioritization model.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374136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33741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3284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Results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630168"/>
            <a:ext cx="10591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HIGI ranged 0.0861–0.9765; Random Forest achieved R² = 0.7092, MAE = 0.0524; three district profiles identified.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08736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7200" y="4087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40416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Usage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4343400"/>
            <a:ext cx="10591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HIGI, district profiles, and AI-assisted rankings provide complementary evidence for planning — while retaining expert and policy judgement.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5532120"/>
            <a:ext cx="11277295" cy="822960"/>
          </a:xfrm>
          <a:prstGeom prst="roundRect">
            <a:avLst>
              <a:gd name="adj" fmla="val 8889"/>
            </a:avLst>
          </a:prstGeom>
          <a:solidFill>
            <a:srgbClr val="21295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31520" y="553212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converts fragmented district-level data into multiple evidence-based views for healthcare infrastructure prioritization.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Infrastructure Gap Index (HIGI)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Fragmented Data to District-Level Prioritization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2514600" cy="1417320"/>
          </a:xfrm>
          <a:prstGeom prst="roundRect">
            <a:avLst>
              <a:gd name="adj" fmla="val 3871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508760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Dimensions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892808"/>
            <a:ext cx="2295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infrastructure</a:t>
            </a:r>
            <a:endParaRPr lang="en-US" sz="105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&amp; demographics</a:t>
            </a:r>
            <a:endParaRPr lang="en-US" sz="105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outcomes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990088" y="2007108"/>
            <a:ext cx="219456" cy="237744"/>
          </a:xfrm>
          <a:prstGeom prst="rightArrow">
            <a:avLst/>
          </a:prstGeom>
          <a:solidFill>
            <a:srgbClr val="5B6B79"/>
          </a:solidFill>
          <a:ln/>
        </p:spPr>
      </p:sp>
      <p:sp>
        <p:nvSpPr>
          <p:cNvPr id="7" name="Shape 5"/>
          <p:cNvSpPr/>
          <p:nvPr/>
        </p:nvSpPr>
        <p:spPr>
          <a:xfrm>
            <a:off x="3227832" y="1417320"/>
            <a:ext cx="2514600" cy="1417320"/>
          </a:xfrm>
          <a:prstGeom prst="roundRect">
            <a:avLst>
              <a:gd name="adj" fmla="val 3871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37560" y="1508760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Datasets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337560" y="1892808"/>
            <a:ext cx="2295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RHS</a:t>
            </a:r>
            <a:endParaRPr lang="en-US" sz="105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2011</a:t>
            </a:r>
            <a:endParaRPr lang="en-US" sz="105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NFHS-5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760720" y="2007108"/>
            <a:ext cx="219456" cy="237744"/>
          </a:xfrm>
          <a:prstGeom prst="rightArrow">
            <a:avLst/>
          </a:prstGeom>
          <a:solidFill>
            <a:srgbClr val="5B6B79"/>
          </a:solidFill>
          <a:ln/>
        </p:spPr>
      </p:sp>
      <p:sp>
        <p:nvSpPr>
          <p:cNvPr id="11" name="Shape 9"/>
          <p:cNvSpPr/>
          <p:nvPr/>
        </p:nvSpPr>
        <p:spPr>
          <a:xfrm>
            <a:off x="5998464" y="1417320"/>
            <a:ext cx="2514600" cy="1417320"/>
          </a:xfrm>
          <a:prstGeom prst="roundRect">
            <a:avLst>
              <a:gd name="adj" fmla="val 3871"/>
            </a:avLst>
          </a:prstGeom>
          <a:solidFill>
            <a:srgbClr val="3A7CA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08192" y="1508760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108192" y="1892808"/>
            <a:ext cx="2295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scales/structures</a:t>
            </a:r>
            <a:endParaRPr lang="en-US" sz="105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compare districts</a:t>
            </a:r>
            <a:endParaRPr lang="en-US" sz="105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Multidimensional gaps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531352" y="2007108"/>
            <a:ext cx="219456" cy="237744"/>
          </a:xfrm>
          <a:prstGeom prst="rightArrow">
            <a:avLst/>
          </a:prstGeom>
          <a:solidFill>
            <a:srgbClr val="5B6B79"/>
          </a:solidFill>
          <a:ln/>
        </p:spPr>
      </p:sp>
      <p:sp>
        <p:nvSpPr>
          <p:cNvPr id="15" name="Shape 13"/>
          <p:cNvSpPr/>
          <p:nvPr/>
        </p:nvSpPr>
        <p:spPr>
          <a:xfrm>
            <a:off x="8769096" y="1417320"/>
            <a:ext cx="2514600" cy="1417320"/>
          </a:xfrm>
          <a:prstGeom prst="roundRect">
            <a:avLst>
              <a:gd name="adj" fmla="val 3871"/>
            </a:avLst>
          </a:prstGeom>
          <a:solidFill>
            <a:srgbClr val="21295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878824" y="1508760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 Contribution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878824" y="1892808"/>
            <a:ext cx="2295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HIGI</a:t>
            </a:r>
            <a:endParaRPr lang="en-US" sz="105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Profiling</a:t>
            </a:r>
            <a:endParaRPr lang="en-US" sz="105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Ranking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154680"/>
            <a:ext cx="11277295" cy="960120"/>
          </a:xfrm>
          <a:prstGeom prst="roundRect">
            <a:avLst>
              <a:gd name="adj" fmla="val 5714"/>
            </a:avLst>
          </a:prstGeom>
          <a:solidFill>
            <a:srgbClr val="9FD8C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580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GAP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352044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an integrated, district-level analytical framework that combines infrastructure measurement with statistical analysis and machine learning to support prioritization.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343400"/>
            <a:ext cx="11277295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4480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CONTRIBUTION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75488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HIGI + District Profiling + AI-Assisted Ranking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521208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study combines these three complementary perspectives to inform decisions — rather than replacing policy judgement.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Infrastructure Gap Index (HIGI)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Questions &amp; Statistical Testing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7295" cy="2377440"/>
        </p:xfrm>
        <a:graphic>
          <a:graphicData uri="http://schemas.openxmlformats.org/drawingml/2006/table">
            <a:tbl>
              <a:tblPr/>
              <a:tblGrid>
                <a:gridCol w="685800"/>
                <a:gridCol w="4206240"/>
                <a:gridCol w="3291840"/>
                <a:gridCol w="309067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Question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Result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official district-level datasets be integrated to quantify infrastructure gaps?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+ data-quality assessment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488 districts × 18 variables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HIGI measure and compare relative infrastructure gaps?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HIGI + Spearman correlation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HIGI: 0.0861–0.9765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ML identify meaningful district patterns?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 + validation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profiles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AI-assisted prioritization provide a complementary perspective?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+ OOF predictions + ranking comparison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ρ = 0.653; Top-20 overlap = 10%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886200"/>
            <a:ext cx="11277295" cy="1783080"/>
          </a:xfrm>
          <a:prstGeom prst="roundRect">
            <a:avLst>
              <a:gd name="adj" fmla="val 3077"/>
            </a:avLst>
          </a:prstGeom>
          <a:solidFill>
            <a:srgbClr val="065A8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4041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FRAMEWORK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370832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meaningful relationship / pattern / additional prioritization perspective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H₁: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relationship / pattern / additional prioritization perspective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7406640" y="4251960"/>
            <a:ext cx="4053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0.05</a:t>
            </a:r>
            <a:endParaRPr lang="en-US" sz="13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N = 488</a:t>
            </a:r>
            <a:endParaRPr lang="en-US" sz="1300" dirty="0"/>
          </a:p>
          <a:p>
            <a:pPr algn="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Adequate for all RQs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5285232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required N by research question: RQ1 = 385  ·  RQ2 = 85  ·  RQ3 = 158  ·  RQ4 = 85  (488 available districts exceed each threshold)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Infrastructure Gap Index (HIGI)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Description &amp; Exploratory Analysis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6492240" cy="1554480"/>
        </p:xfrm>
        <a:graphic>
          <a:graphicData uri="http://schemas.openxmlformats.org/drawingml/2006/table">
            <a:tbl>
              <a:tblPr/>
              <a:tblGrid>
                <a:gridCol w="3200400"/>
                <a:gridCol w="3291840"/>
              </a:tblGrid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Rural Health Statistics (RHS)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healthcare infrastructure indicators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Census of India 2011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demographic indicators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NFHS-5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health indicators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223760" y="1234440"/>
            <a:ext cx="4510735" cy="1554480"/>
          </a:xfrm>
          <a:prstGeom prst="roundRect">
            <a:avLst>
              <a:gd name="adj" fmla="val 4706"/>
            </a:avLst>
          </a:prstGeom>
          <a:solidFill>
            <a:srgbClr val="065A8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223760" y="1371600"/>
            <a:ext cx="45107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488 × 18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7406640" y="2148840"/>
            <a:ext cx="4144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integrated dataset: districts × variables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3108960"/>
            <a:ext cx="3606698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6DFE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32461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008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703320"/>
            <a:ext cx="32409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of HIGI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4114800"/>
            <a:ext cx="32409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Infrastructure-gap scores vary substantially across districts.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292498" y="3108960"/>
            <a:ext cx="3606698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6DF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75378" y="32461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475378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475378" y="3703320"/>
            <a:ext cx="32409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HIGI vs Health Insurance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475378" y="4114800"/>
            <a:ext cx="32409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negative association with insurance coverage (ρ = −0.348).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127797" y="3108960"/>
            <a:ext cx="3606698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6DFE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310677" y="32461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310677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310677" y="3703320"/>
            <a:ext cx="32409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Data-Quality Review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310677" y="4114800"/>
            <a:ext cx="32409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Missingness checks and harmonization were required before modelling.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5074920"/>
            <a:ext cx="11277295" cy="777240"/>
          </a:xfrm>
          <a:prstGeom prst="roundRect">
            <a:avLst>
              <a:gd name="adj" fmla="val 9412"/>
            </a:avLst>
          </a:prstGeom>
          <a:solidFill>
            <a:srgbClr val="21295C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31520" y="5074920"/>
            <a:ext cx="10728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District-level infrastructure availability varies sufficiently to justify standardized comparison and prioritization.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Infrastructure Gap Index (HIGI)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Analytical Workflow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855568" y="1115568"/>
            <a:ext cx="1371600" cy="347472"/>
          </a:xfrm>
          <a:prstGeom prst="roundRect">
            <a:avLst>
              <a:gd name="adj" fmla="val 13158"/>
            </a:avLst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855568" y="11155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10048" y="1115568"/>
            <a:ext cx="1371600" cy="347472"/>
          </a:xfrm>
          <a:prstGeom prst="roundRect">
            <a:avLst>
              <a:gd name="adj" fmla="val 13158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10048" y="11155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2011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964528" y="1115568"/>
            <a:ext cx="1371600" cy="347472"/>
          </a:xfrm>
          <a:prstGeom prst="roundRect">
            <a:avLst>
              <a:gd name="adj" fmla="val 13158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964528" y="11155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NFHS-5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04408" y="1481328"/>
            <a:ext cx="182880" cy="146304"/>
          </a:xfrm>
          <a:prstGeom prst="downArrow">
            <a:avLst/>
          </a:prstGeom>
          <a:solidFill>
            <a:srgbClr val="5B6B79"/>
          </a:solidFill>
          <a:ln/>
        </p:spPr>
      </p:sp>
      <p:sp>
        <p:nvSpPr>
          <p:cNvPr id="10" name="Shape 8"/>
          <p:cNvSpPr/>
          <p:nvPr/>
        </p:nvSpPr>
        <p:spPr>
          <a:xfrm>
            <a:off x="1176376" y="1664208"/>
            <a:ext cx="2240280" cy="566928"/>
          </a:xfrm>
          <a:prstGeom prst="roundRect">
            <a:avLst>
              <a:gd name="adj" fmla="val 8065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76376" y="166420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53232" y="1856232"/>
            <a:ext cx="219456" cy="182880"/>
          </a:xfrm>
          <a:prstGeom prst="rightArrow">
            <a:avLst/>
          </a:prstGeom>
          <a:solidFill>
            <a:srgbClr val="5B6B79"/>
          </a:solidFill>
          <a:ln/>
        </p:spPr>
      </p:sp>
      <p:sp>
        <p:nvSpPr>
          <p:cNvPr id="13" name="Shape 11"/>
          <p:cNvSpPr/>
          <p:nvPr/>
        </p:nvSpPr>
        <p:spPr>
          <a:xfrm>
            <a:off x="3709264" y="1664208"/>
            <a:ext cx="2240280" cy="566928"/>
          </a:xfrm>
          <a:prstGeom prst="roundRect">
            <a:avLst>
              <a:gd name="adj" fmla="val 8065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709264" y="166420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86120" y="1856232"/>
            <a:ext cx="219456" cy="182880"/>
          </a:xfrm>
          <a:prstGeom prst="rightArrow">
            <a:avLst/>
          </a:prstGeom>
          <a:solidFill>
            <a:srgbClr val="5B6B79"/>
          </a:solidFill>
          <a:ln/>
        </p:spPr>
      </p:sp>
      <p:sp>
        <p:nvSpPr>
          <p:cNvPr id="16" name="Shape 14"/>
          <p:cNvSpPr/>
          <p:nvPr/>
        </p:nvSpPr>
        <p:spPr>
          <a:xfrm>
            <a:off x="6242152" y="1664208"/>
            <a:ext cx="2240280" cy="566928"/>
          </a:xfrm>
          <a:prstGeom prst="roundRect">
            <a:avLst>
              <a:gd name="adj" fmla="val 8065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42152" y="166420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519008" y="1856232"/>
            <a:ext cx="219456" cy="182880"/>
          </a:xfrm>
          <a:prstGeom prst="rightArrow">
            <a:avLst/>
          </a:prstGeom>
          <a:solidFill>
            <a:srgbClr val="5B6B79"/>
          </a:solidFill>
          <a:ln/>
        </p:spPr>
      </p:sp>
      <p:sp>
        <p:nvSpPr>
          <p:cNvPr id="19" name="Shape 17"/>
          <p:cNvSpPr/>
          <p:nvPr/>
        </p:nvSpPr>
        <p:spPr>
          <a:xfrm>
            <a:off x="8775040" y="1664208"/>
            <a:ext cx="2240280" cy="566928"/>
          </a:xfrm>
          <a:prstGeom prst="roundRect">
            <a:avLst>
              <a:gd name="adj" fmla="val 8065"/>
            </a:avLst>
          </a:prstGeom>
          <a:solidFill>
            <a:srgbClr val="065A8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775040" y="1664208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176376" y="226771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official data sources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3709264" y="226771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Harmonization • quality checks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6242152" y="226771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 • correlations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8775040" y="226771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Clipping • HIGI construction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995264" y="2505456"/>
            <a:ext cx="201168" cy="173736"/>
          </a:xfrm>
          <a:prstGeom prst="downArrow">
            <a:avLst/>
          </a:prstGeom>
          <a:solidFill>
            <a:srgbClr val="5B6B79"/>
          </a:solidFill>
          <a:ln/>
        </p:spPr>
      </p:sp>
      <p:sp>
        <p:nvSpPr>
          <p:cNvPr id="26" name="Shape 24"/>
          <p:cNvSpPr/>
          <p:nvPr/>
        </p:nvSpPr>
        <p:spPr>
          <a:xfrm>
            <a:off x="2758288" y="2734056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21295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2758288" y="273405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98768" y="2734056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21295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98768" y="273405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2758288" y="313639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profiling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6598768" y="313639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HIGI prediction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084168" y="3355848"/>
            <a:ext cx="182880" cy="137160"/>
          </a:xfrm>
          <a:prstGeom prst="downArrow">
            <a:avLst/>
          </a:prstGeom>
          <a:solidFill>
            <a:srgbClr val="5B6B79"/>
          </a:solidFill>
          <a:ln/>
        </p:spPr>
      </p:sp>
      <p:sp>
        <p:nvSpPr>
          <p:cNvPr id="33" name="Shape 31"/>
          <p:cNvSpPr/>
          <p:nvPr/>
        </p:nvSpPr>
        <p:spPr>
          <a:xfrm>
            <a:off x="7924648" y="3355848"/>
            <a:ext cx="182880" cy="137160"/>
          </a:xfrm>
          <a:prstGeom prst="downArrow">
            <a:avLst/>
          </a:prstGeom>
          <a:solidFill>
            <a:srgbClr val="5B6B79"/>
          </a:solidFill>
          <a:ln/>
        </p:spPr>
      </p:sp>
      <p:sp>
        <p:nvSpPr>
          <p:cNvPr id="34" name="Shape 32"/>
          <p:cNvSpPr/>
          <p:nvPr/>
        </p:nvSpPr>
        <p:spPr>
          <a:xfrm>
            <a:off x="2758288" y="3529584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1C7293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758288" y="352958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Validation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598768" y="3529584"/>
            <a:ext cx="2834640" cy="384048"/>
          </a:xfrm>
          <a:prstGeom prst="roundRect">
            <a:avLst>
              <a:gd name="adj" fmla="val 11905"/>
            </a:avLst>
          </a:prstGeom>
          <a:solidFill>
            <a:srgbClr val="1C7293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598768" y="352958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2758288" y="393192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= 0.2018 • DBI = 1.6442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6598768" y="393192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• RMSE • R²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175608" y="4151376"/>
            <a:ext cx="0" cy="109728"/>
          </a:xfrm>
          <a:prstGeom prst="line">
            <a:avLst/>
          </a:prstGeom>
          <a:noFill/>
          <a:ln w="19050">
            <a:solidFill>
              <a:srgbClr val="5B6B7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16088" y="4151376"/>
            <a:ext cx="0" cy="109728"/>
          </a:xfrm>
          <a:prstGeom prst="line">
            <a:avLst/>
          </a:prstGeom>
          <a:noFill/>
          <a:ln w="19050">
            <a:solidFill>
              <a:srgbClr val="5B6B7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175608" y="4261104"/>
            <a:ext cx="3840480" cy="0"/>
          </a:xfrm>
          <a:prstGeom prst="line">
            <a:avLst/>
          </a:prstGeom>
          <a:noFill/>
          <a:ln w="19050">
            <a:solidFill>
              <a:srgbClr val="5B6B7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004408" y="4261104"/>
            <a:ext cx="182880" cy="146304"/>
          </a:xfrm>
          <a:prstGeom prst="downArrow">
            <a:avLst/>
          </a:prstGeom>
          <a:solidFill>
            <a:srgbClr val="5B6B79"/>
          </a:solidFill>
          <a:ln/>
        </p:spPr>
      </p:sp>
      <p:sp>
        <p:nvSpPr>
          <p:cNvPr id="44" name="Shape 42"/>
          <p:cNvSpPr/>
          <p:nvPr/>
        </p:nvSpPr>
        <p:spPr>
          <a:xfrm>
            <a:off x="4587088" y="4453128"/>
            <a:ext cx="3017520" cy="365760"/>
          </a:xfrm>
          <a:prstGeom prst="roundRect">
            <a:avLst>
              <a:gd name="adj" fmla="val 12500"/>
            </a:avLst>
          </a:prstGeom>
          <a:solidFill>
            <a:srgbClr val="21295C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4587088" y="44531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RANKING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004408" y="4846320"/>
            <a:ext cx="182880" cy="146304"/>
          </a:xfrm>
          <a:prstGeom prst="downArrow">
            <a:avLst/>
          </a:prstGeom>
          <a:solidFill>
            <a:srgbClr val="5B6B79"/>
          </a:solidFill>
          <a:ln/>
        </p:spPr>
      </p:sp>
      <p:sp>
        <p:nvSpPr>
          <p:cNvPr id="47" name="Shape 45"/>
          <p:cNvSpPr/>
          <p:nvPr/>
        </p:nvSpPr>
        <p:spPr>
          <a:xfrm>
            <a:off x="4587088" y="5020056"/>
            <a:ext cx="3017520" cy="365760"/>
          </a:xfrm>
          <a:prstGeom prst="roundRect">
            <a:avLst>
              <a:gd name="adj" fmla="val 12500"/>
            </a:avLst>
          </a:prstGeom>
          <a:solidFill>
            <a:srgbClr val="065A82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4587088" y="502005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457200" y="555040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Jupyter / Colab  •  pandas  •  NumPy  •  scikit-learn  •  Matplotlib / Seaborn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Infrastructure Gap Index (HIGI)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Building &amp; Method Selection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606698" cy="4892040"/>
          </a:xfrm>
          <a:prstGeom prst="roundRect">
            <a:avLst>
              <a:gd name="adj" fmla="val 1521"/>
            </a:avLst>
          </a:prstGeom>
          <a:solidFill>
            <a:srgbClr val="FFFFFF"/>
          </a:solidFill>
          <a:ln w="12700">
            <a:solidFill>
              <a:srgbClr val="D6DF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34440"/>
            <a:ext cx="3606698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2409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HIGI Construction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324093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infrastructure indicators (20% each):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Sub-Centres / 100k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PHCs / 100k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CHCs / 100k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Sub-Divisional Hospitals / 100k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Hospitals / 100k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611880"/>
            <a:ext cx="32409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Clipping (1st/99th pct.) → Normalization → Direction Reversal → Composite HIGI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4572000"/>
            <a:ext cx="3240938" cy="502920"/>
          </a:xfrm>
          <a:prstGeom prst="roundRect">
            <a:avLst>
              <a:gd name="adj" fmla="val 9091"/>
            </a:avLst>
          </a:prstGeom>
          <a:solidFill>
            <a:srgbClr val="9FD8C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4572000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HIGI = larger relative infrastructure gap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2498" y="1234440"/>
            <a:ext cx="3606698" cy="4892040"/>
          </a:xfrm>
          <a:prstGeom prst="roundRect">
            <a:avLst>
              <a:gd name="adj" fmla="val 1521"/>
            </a:avLst>
          </a:prstGeom>
          <a:solidFill>
            <a:srgbClr val="FFFFFF"/>
          </a:solidFill>
          <a:ln w="12700">
            <a:solidFill>
              <a:srgbClr val="D6DF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2498" y="1234440"/>
            <a:ext cx="3606698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75378" y="1234440"/>
            <a:ext cx="32409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District Profiling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475378" y="1920240"/>
            <a:ext cx="32409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evaluated: 2–8; selected K = 3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applied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used only for visualization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475378" y="3246120"/>
            <a:ext cx="3240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475378" y="3520440"/>
            <a:ext cx="32409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= 0.2018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Davies–Bouldin = 1.6442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75378" y="4572000"/>
            <a:ext cx="3240938" cy="822960"/>
          </a:xfrm>
          <a:prstGeom prst="roundRect">
            <a:avLst>
              <a:gd name="adj" fmla="val 5556"/>
            </a:avLst>
          </a:prstGeom>
          <a:solidFill>
            <a:srgbClr val="E8EFF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66818" y="4572000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interpretable profiles were identified, although cluster separation was moderate.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27797" y="1234440"/>
            <a:ext cx="3606698" cy="4892040"/>
          </a:xfrm>
          <a:prstGeom prst="roundRect">
            <a:avLst>
              <a:gd name="adj" fmla="val 1521"/>
            </a:avLst>
          </a:prstGeom>
          <a:solidFill>
            <a:srgbClr val="FFFFFF"/>
          </a:solidFill>
          <a:ln w="12700">
            <a:solidFill>
              <a:srgbClr val="D6DF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27797" y="1234440"/>
            <a:ext cx="3606698" cy="5029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310677" y="1234440"/>
            <a:ext cx="32409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Predictive Model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8310677" y="1874520"/>
            <a:ext cx="3240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Regression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310677" y="2240280"/>
            <a:ext cx="324093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non-linear relationships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feature interactions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robust than a single tree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Well-suited to structured/tabular data</a:t>
            </a:r>
            <a:endParaRPr lang="en-US" sz="11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practical than deep learning at this data size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310677" y="4572000"/>
            <a:ext cx="3240938" cy="822960"/>
          </a:xfrm>
          <a:prstGeom prst="roundRect">
            <a:avLst>
              <a:gd name="adj" fmla="val 5556"/>
            </a:avLst>
          </a:prstGeom>
          <a:solidFill>
            <a:srgbClr val="065A8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402117" y="4572000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prevention: HIGI's five construction indicators were excluded from RF predictors.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Infrastructure Gap Index (HIGI)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Model Performance &amp; Prioritization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Performance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6766560" cy="1463040"/>
        </p:xfrm>
        <a:graphic>
          <a:graphicData uri="http://schemas.openxmlformats.org/drawingml/2006/table">
            <a:tbl>
              <a:tblPr/>
              <a:tblGrid>
                <a:gridCol w="2560320"/>
                <a:gridCol w="1371600"/>
                <a:gridCol w="137160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Tuned 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10896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substantially outperformed the baseline, explaining approximately 71% of the variation in HIGI on the held-out test set.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360920" y="1143000"/>
            <a:ext cx="4373575" cy="3749040"/>
          </a:xfrm>
          <a:prstGeom prst="roundRect">
            <a:avLst>
              <a:gd name="adj" fmla="val 1463"/>
            </a:avLst>
          </a:prstGeom>
          <a:solidFill>
            <a:srgbClr val="21295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589520" y="1280160"/>
            <a:ext cx="3916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PRIORITIZATION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589520" y="1645920"/>
            <a:ext cx="3916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ρ = 0.653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7589520" y="2148840"/>
            <a:ext cx="3916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agreement with conventional HIGI ranking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589520" y="2606040"/>
            <a:ext cx="3916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7589520" y="3108960"/>
            <a:ext cx="3916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Top-20 ranking overlap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7589520" y="3566160"/>
            <a:ext cx="3916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/ 20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7589520" y="4069080"/>
            <a:ext cx="3916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 appearing in both top-20 lists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57200" y="5257800"/>
            <a:ext cx="11277295" cy="82296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31520" y="525780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prioritization provides a complementary perspective rather than simply reproducing HIGI ranking — the study does not establish superiority.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Infrastructure Gap Index (HIGI)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Analysis to Decision Support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2161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971800" y="1216152"/>
            <a:ext cx="8762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HIGI rankings to identify districts with relatively larger infrastructure gaps.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80136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783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71800" y="1783080"/>
            <a:ext cx="8762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K-Means district profiles to understand differences in population, infrastructure, and health characteristics.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368296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2368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3500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Prioritize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971800" y="2350008"/>
            <a:ext cx="8762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AI-assisted Random Forest rankings as an additional signal for districts requiring further review.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93522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2935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291693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971800" y="2916936"/>
            <a:ext cx="8762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analytical outputs with budget, feasibility, local context, and policy priorities.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502152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7200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48386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971800" y="3483864"/>
            <a:ext cx="8762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evidence to policymakers and domain experts while retaining human judgement in final allocation decisions.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4160520"/>
            <a:ext cx="11277295" cy="1051560"/>
          </a:xfrm>
          <a:prstGeom prst="roundRect">
            <a:avLst>
              <a:gd name="adj" fmla="val 5217"/>
            </a:avLst>
          </a:prstGeom>
          <a:solidFill>
            <a:srgbClr val="E8EFF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5800" y="42702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USE CASE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452628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 health department could screen districts using HIGI, segment them by district profile, and use the AI-assisted ranking to flag districts for deeper feasibility assessment before allocating infrastructure resources.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53492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District</a:t>
            </a:r>
            <a:pPr algn="ctr" indent="0" marL="0">
              <a:buNone/>
            </a:pPr>
            <a:r>
              <a:rPr lang="en-US" sz="1450" dirty="0">
                <a:solidFill>
                  <a:srgbClr val="5B6B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→  </a:t>
            </a:r>
            <a:pPr algn="ctr"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Evidence-Based Perspectives</a:t>
            </a:r>
            <a:pPr algn="ctr" indent="0" marL="0">
              <a:buNone/>
            </a:pPr>
            <a:r>
              <a:rPr lang="en-US" sz="1450" dirty="0">
                <a:solidFill>
                  <a:srgbClr val="5B6B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→  </a:t>
            </a:r>
            <a:pPr algn="ctr" indent="0" marL="0">
              <a:buNone/>
            </a:pPr>
            <a:r>
              <a:rPr lang="en-US" sz="14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Better-Informed Review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Infrastructure Gap Index (HIGI)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097280"/>
            <a:ext cx="2926080" cy="29260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501488" cy="1051560"/>
          </a:xfrm>
          <a:prstGeom prst="roundRect">
            <a:avLst>
              <a:gd name="adj" fmla="val 5217"/>
            </a:avLst>
          </a:prstGeom>
          <a:solidFill>
            <a:srgbClr val="2C367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344168"/>
            <a:ext cx="4358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673352"/>
            <a:ext cx="4358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integrated 488 districts × 18 variables from RHS, Census 2011, and NFHS-5.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33008" y="1234440"/>
            <a:ext cx="5501488" cy="1051560"/>
          </a:xfrm>
          <a:prstGeom prst="roundRect">
            <a:avLst>
              <a:gd name="adj" fmla="val 5217"/>
            </a:avLst>
          </a:prstGeom>
          <a:solidFill>
            <a:srgbClr val="2C367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15888" y="132588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7193128" y="1344168"/>
            <a:ext cx="4358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Measurement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193128" y="1673352"/>
            <a:ext cx="4358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HIGI provides a standardized measure of relative healthcare infrastructure gaps across districts.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5501488" cy="1051560"/>
          </a:xfrm>
          <a:prstGeom prst="roundRect">
            <a:avLst>
              <a:gd name="adj" fmla="val 5217"/>
            </a:avLst>
          </a:prstGeom>
          <a:solidFill>
            <a:srgbClr val="2C367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256032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2578608"/>
            <a:ext cx="4358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Segmentation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2907792"/>
            <a:ext cx="4358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identified 3 district profiles, providing contextual segmentation.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33008" y="2468880"/>
            <a:ext cx="5501488" cy="1051560"/>
          </a:xfrm>
          <a:prstGeom prst="roundRect">
            <a:avLst>
              <a:gd name="adj" fmla="val 5217"/>
            </a:avLst>
          </a:prstGeom>
          <a:solidFill>
            <a:srgbClr val="2C367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15888" y="256032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7193128" y="2578608"/>
            <a:ext cx="4358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AI-Assisted Prioritization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193128" y="2907792"/>
            <a:ext cx="4358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achieved R² = 0.7092; AI-assisted ranking showed ρ = 0.653 with only 10% Top-20 overlap.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611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SCOPE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904488"/>
            <a:ext cx="112772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E4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are district-level and from different reference periods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E4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excludes real-time and private healthcare infrastructure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E4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separation is moderate; model shows association, not causation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E4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newer datasets, HIGI weight sensitivity analysis, feasibility variables, refreshed-data deployment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5074920"/>
            <a:ext cx="11277295" cy="1051560"/>
          </a:xfrm>
          <a:prstGeom prst="roundRect">
            <a:avLst>
              <a:gd name="adj" fmla="val 5217"/>
            </a:avLst>
          </a:prstGeom>
          <a:solidFill>
            <a:srgbClr val="065A8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1520" y="5074920"/>
            <a:ext cx="107286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HIGI should be viewed as a decision-support framework — not an automated allocation system — combining infrastructure gaps, district profiles, and AI-assisted evidence to support expert decision-making.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Infrastructure Gap Index (HIGI)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Bibliography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606698" cy="2066544"/>
          </a:xfrm>
          <a:prstGeom prst="roundRect">
            <a:avLst>
              <a:gd name="adj" fmla="val 2655"/>
            </a:avLst>
          </a:prstGeom>
          <a:solidFill>
            <a:srgbClr val="FFFFFF"/>
          </a:solidFill>
          <a:ln w="12700">
            <a:solidFill>
              <a:srgbClr val="D6DF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34440"/>
            <a:ext cx="3606698" cy="5943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2409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Government / Data Sources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324093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Health Statistics (RHS)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of India, 2011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Family Health Survey – 5 (NFHS-5)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2498" y="1234440"/>
            <a:ext cx="3606698" cy="2450592"/>
          </a:xfrm>
          <a:prstGeom prst="roundRect">
            <a:avLst>
              <a:gd name="adj" fmla="val 2239"/>
            </a:avLst>
          </a:prstGeom>
          <a:solidFill>
            <a:srgbClr val="FFFFFF"/>
          </a:solidFill>
          <a:ln w="12700">
            <a:solidFill>
              <a:srgbClr val="D6DF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2498" y="1234440"/>
            <a:ext cx="3606698" cy="5943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475378" y="1234440"/>
            <a:ext cx="32409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Methodological Sources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475378" y="1828800"/>
            <a:ext cx="3240938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regression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rank correlation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Machine-learning / decision-support literature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27797" y="1234440"/>
            <a:ext cx="3606698" cy="1682496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12700">
            <a:solidFill>
              <a:srgbClr val="D6DF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27797" y="1234440"/>
            <a:ext cx="3606698" cy="5943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10677" y="1234440"/>
            <a:ext cx="32409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/ Recent Literature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310677" y="1828800"/>
            <a:ext cx="324093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reference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/ agentic AI reference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562356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follow APA 7 format and are drawn from the verified sources cited in the final report.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Infrastructure Gap Index (HIGI)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77295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2026-09-04T10:14:08Z</dcterms:created>
  <dcterms:modified xsi:type="dcterms:W3CDTF">2026-09-04T10:14:08Z</dcterms:modified>
</cp:coreProperties>
</file>